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2"/>
  </p:notesMasterIdLst>
  <p:sldIdLst>
    <p:sldId id="256" r:id="rId2"/>
    <p:sldId id="362" r:id="rId3"/>
    <p:sldId id="363" r:id="rId4"/>
    <p:sldId id="365" r:id="rId5"/>
    <p:sldId id="398" r:id="rId6"/>
    <p:sldId id="396" r:id="rId7"/>
    <p:sldId id="397" r:id="rId8"/>
    <p:sldId id="381" r:id="rId9"/>
    <p:sldId id="367" r:id="rId10"/>
    <p:sldId id="374" r:id="rId11"/>
    <p:sldId id="257" r:id="rId12"/>
    <p:sldId id="258" r:id="rId13"/>
    <p:sldId id="419" r:id="rId14"/>
    <p:sldId id="259" r:id="rId15"/>
    <p:sldId id="420" r:id="rId16"/>
    <p:sldId id="260" r:id="rId17"/>
    <p:sldId id="410" r:id="rId18"/>
    <p:sldId id="417" r:id="rId19"/>
    <p:sldId id="418" r:id="rId20"/>
    <p:sldId id="421" r:id="rId21"/>
    <p:sldId id="261" r:id="rId22"/>
    <p:sldId id="424" r:id="rId23"/>
    <p:sldId id="425" r:id="rId24"/>
    <p:sldId id="426" r:id="rId25"/>
    <p:sldId id="427" r:id="rId26"/>
    <p:sldId id="428" r:id="rId27"/>
    <p:sldId id="429" r:id="rId28"/>
    <p:sldId id="430" r:id="rId29"/>
    <p:sldId id="431" r:id="rId30"/>
    <p:sldId id="432" r:id="rId31"/>
    <p:sldId id="433" r:id="rId32"/>
    <p:sldId id="434" r:id="rId33"/>
    <p:sldId id="435" r:id="rId34"/>
    <p:sldId id="399" r:id="rId35"/>
    <p:sldId id="382" r:id="rId36"/>
    <p:sldId id="393" r:id="rId37"/>
    <p:sldId id="384" r:id="rId38"/>
    <p:sldId id="385" r:id="rId39"/>
    <p:sldId id="380" r:id="rId40"/>
    <p:sldId id="377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118" autoAdjust="0"/>
  </p:normalViewPr>
  <p:slideViewPr>
    <p:cSldViewPr snapToGrid="0">
      <p:cViewPr varScale="1">
        <p:scale>
          <a:sx n="83" d="100"/>
          <a:sy n="83" d="100"/>
        </p:scale>
        <p:origin x="435" y="4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37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A5D5E6-B0AD-41ED-8662-9956D43294C8}" type="datetimeFigureOut">
              <a:rPr lang="en-IN" smtClean="0"/>
              <a:t>17-03-2026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032C53-18A6-424C-AC3F-6A5C88268F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2920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32C53-18A6-424C-AC3F-6A5C88268FAC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3326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 dirty="0"/>
          </a:p>
        </p:txBody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1600" i="1" u="sng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57263" eaLnBrk="0" hangingPunct="0">
              <a:defRPr sz="1600" i="1" u="sng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57263" eaLnBrk="0" hangingPunct="0">
              <a:defRPr sz="1600" i="1" u="sng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57263" eaLnBrk="0" hangingPunct="0">
              <a:defRPr sz="1600" i="1" u="sng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57263" eaLnBrk="0" hangingPunct="0">
              <a:defRPr sz="1600" i="1" u="sng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defTabSz="9572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 3" pitchFamily="18" charset="2"/>
              <a:defRPr sz="1600" i="1" u="sng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defTabSz="9572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 3" pitchFamily="18" charset="2"/>
              <a:defRPr sz="1600" i="1" u="sng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defTabSz="9572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 3" pitchFamily="18" charset="2"/>
              <a:defRPr sz="1600" i="1" u="sng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defTabSz="9572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 3" pitchFamily="18" charset="2"/>
              <a:defRPr sz="1600" i="1" u="sng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8DB8CE8C-FE07-45AE-B0F5-C2FA4B625204}" type="slidenum">
              <a:rPr lang="de-DE" sz="1300" i="0" u="none" smtClean="0"/>
              <a:pPr eaLnBrk="1" hangingPunct="1"/>
              <a:t>2</a:t>
            </a:fld>
            <a:endParaRPr lang="de-DE" sz="1300" i="0" u="none"/>
          </a:p>
        </p:txBody>
      </p:sp>
    </p:spTree>
    <p:extLst>
      <p:ext uri="{BB962C8B-B14F-4D97-AF65-F5344CB8AC3E}">
        <p14:creationId xmlns:p14="http://schemas.microsoft.com/office/powerpoint/2010/main" val="656200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32C53-18A6-424C-AC3F-6A5C88268FAC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2595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32C53-18A6-424C-AC3F-6A5C88268FAC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6027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4670A-9CB5-BCCD-B602-24F726189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AF13BB-BD72-93B9-E1D9-66E6291A0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20C523-760D-7454-23A1-FE23DE1E1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47463-4665-6F6D-C3BA-060380934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32C53-18A6-424C-AC3F-6A5C88268FAC}" type="slidenum">
              <a:rPr lang="en-IN" smtClean="0"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48833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F8C14-2C6D-AB78-CCF6-22F2EC207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8B87B0-C4AC-0D04-1CCB-89488039D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E9972-3643-6BCB-56AC-AA32AE16E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5650B-F7A6-F2B8-7068-7432F25868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32C53-18A6-424C-AC3F-6A5C88268FAC}" type="slidenum">
              <a:rPr lang="en-IN" smtClean="0"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22520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9DDA4-2664-2FF6-4643-4D9EE0BFD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1A65A1-4BF4-2D56-CBFF-DFC8911682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2E0B89-B185-87FF-C712-8BBB935B0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627D4-D52B-4AD2-B1B5-D14639ABB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32C53-18A6-424C-AC3F-6A5C88268FAC}" type="slidenum">
              <a:rPr lang="en-IN" smtClean="0"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5906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B77A8-C8AE-E81E-3865-FA359D3EE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15B252-A48B-4461-D969-955E5C82D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9B5993-5655-5DC0-0391-FEA90F573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E7932-FF3B-7C6F-CF38-4B6542BB23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32C53-18A6-424C-AC3F-6A5C88268FAC}" type="slidenum">
              <a:rPr lang="en-IN" smtClean="0"/>
              <a:t>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74919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2336B-51F9-034C-FA00-22AC1272E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2185A-3764-4396-C366-EE443611A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41C0E6-2CF5-1076-588C-10E7ED5BC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A5336-F961-644B-603E-BB4F0B1976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32C53-18A6-424C-AC3F-6A5C88268FAC}" type="slidenum">
              <a:rPr lang="en-IN" smtClean="0"/>
              <a:t>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14175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98556E-34A8-4C89-928C-C44CFAE91F01}" type="slidenum">
              <a:rPr lang="de-DE" smtClean="0"/>
              <a:pPr>
                <a:defRPr/>
              </a:pPr>
              <a:t>40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2811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9482-22DE-0D21-81F8-270EEDBD0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1C4B50-7722-5DAC-0A81-541C50B8D8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3A5FF-2541-A118-4175-556BE74CA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C846D-E9D3-7D72-68AE-26216F563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C9C58-03B8-F6B9-A005-EFEE683DD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6847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CD337-B9E0-668E-B9A8-F5223ACAB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BBAB7-12BE-907B-2E38-8224F66D6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E9945-99D3-B429-F5EB-840351072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482D7-3105-2ED2-DEAB-5B18ADD16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E51A5-BDCF-6581-FB94-3BFF7191C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63" y="0"/>
            <a:ext cx="2286037" cy="63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636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86071-FB7C-7C42-1B40-7E8DC70C2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5E358-7E37-582F-2EA9-8A6AAEEF6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DA6DF-B580-B33C-588C-2532E824C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B9B3E-1D5D-ADA0-7F51-F4FE191A4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AD1CA-C721-DDAE-89BD-91075BE8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1570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37C8B-48AA-08FE-C165-36BBF2B4E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B5D3A-E882-CD08-A2E8-0A89D8EFF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F80D7-6AE0-6C26-F95C-0D6A66AF8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38A26C-A39E-ACD6-6F2A-5B1A6BEB4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A6CA2-E862-3332-7386-E5FBE61EA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C93546-953E-092B-A1A2-03ADC7428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8F8835-2F43-77FA-999D-062CD06FAE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63" y="12192"/>
            <a:ext cx="2286037" cy="63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973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B02F0-B55A-8E8B-340B-021815114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F01E7-E941-7111-8CDB-100B10361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FB7E8C-F3CD-1D17-B86D-E92511B65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6C9A37-3FE9-1721-A1FD-031D93426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CFA0D3-FE19-AFED-1D79-C7854A5ABC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A4DEB1-C54C-0EF2-3B88-3844BC543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A37A49-A24F-27E9-2619-778CD0441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77AB98-A846-4F83-C767-BA4378FEB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2946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2B17E-E19C-8F73-E16A-3604E51BD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49BE20-76BE-2743-B41D-D37F9EB25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9F7F79-6D46-060E-4CC0-A92CFC9D5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B2367A-75D4-93F2-55D3-67EAB133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EF2180-FDBA-0DCE-F338-7F73B19534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63" y="0"/>
            <a:ext cx="2286037" cy="63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781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E6B2DA-3341-8B57-E93B-E70438CD0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33FAD7-6902-5EB0-D9D9-962537618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0F147-1286-EF57-EE3E-C0515CBE8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0152FE-80AC-6DFE-C015-4AA008F85E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63" y="0"/>
            <a:ext cx="2286037" cy="63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605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0D09C-5929-BE89-BAE5-3C55456A8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4A38B-2B38-5DC5-2C10-12849215E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2D8FE-753E-B3BA-1CDD-C1B825549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6BF7E-3367-103B-4C13-9F7CCD775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F0C79B-F1A4-17A6-0A99-D82A523EC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6517B-0D36-F203-13AA-1BE024CF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2211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B64E1-FD09-3ED7-22D5-2761F5F95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4AE8E1-E1B9-9E9C-D7A3-3CC73DF0D4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B588E2-B6B1-7B11-FF39-B88064B29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6FFB64-BAD6-23C3-4637-0AE7C7C4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133EF-112D-FBE8-14DA-F6EF602E9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1DEDB-C0CE-6D99-C7AB-0FB84561F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5460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1120A-2165-97A7-DC7E-0F2053879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9EF290-F8C5-D965-8C12-1C3C63EED8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18D98-A569-3C06-2351-123123904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02261-7B0E-ED15-FB05-F50A3D861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EF3EB-7531-0F79-C88F-B7D68877E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5522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B8E999-1353-3507-D410-5C975CA167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FB8B0A-23A7-55F4-8E95-A19FF8887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30819-4AAE-0EAA-4232-82D3ACFA8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834BF-C377-E5C4-A629-DDDC189E1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A2858-3EDC-2957-CC77-AD9E46044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7785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8773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8736B7-3800-3E48-0482-DD4372B0F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6C1B8-2D5E-2828-11B0-54544DEBB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74968-3F32-5C12-7668-0FF58354A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D187F-6836-6A8C-6020-FA2E825AFB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SMEC, Project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6CB3E-9083-6972-E419-1131B60F06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704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encedirect.com/journal/international-journal-of-production-economics/vol/259/suppl/C" TargetMode="External"/><Relationship Id="rId13" Type="http://schemas.openxmlformats.org/officeDocument/2006/relationships/hyperlink" Target="https://www.sciencedirect.com/journal/european-journal-of-operational-research/vol/292/issue/2" TargetMode="External"/><Relationship Id="rId3" Type="http://schemas.openxmlformats.org/officeDocument/2006/relationships/hyperlink" Target="https://www.tandfonline.com/journals/tprs20" TargetMode="External"/><Relationship Id="rId7" Type="http://schemas.openxmlformats.org/officeDocument/2006/relationships/hyperlink" Target="https://www.sciencedirect.com/journal/international-journal-of-production-economics" TargetMode="External"/><Relationship Id="rId12" Type="http://schemas.openxmlformats.org/officeDocument/2006/relationships/hyperlink" Target="https://www.sciencedirect.com/journal/european-journal-of-operational-research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andfonline.com/author/Boyd%2C+Zachary+M" TargetMode="External"/><Relationship Id="rId11" Type="http://schemas.openxmlformats.org/officeDocument/2006/relationships/hyperlink" Target="https://www.sciencedirect.com/author/21834329200/mohammad-saeed-jabalameli" TargetMode="External"/><Relationship Id="rId5" Type="http://schemas.openxmlformats.org/officeDocument/2006/relationships/hyperlink" Target="https://www.tandfonline.com/author/Lavassani%2C+Kayvan+Miri" TargetMode="External"/><Relationship Id="rId10" Type="http://schemas.openxmlformats.org/officeDocument/2006/relationships/hyperlink" Target="https://www.sciencedirect.com/journal/computers-and-industrial-engineering/vol/152/suppl/C" TargetMode="External"/><Relationship Id="rId4" Type="http://schemas.openxmlformats.org/officeDocument/2006/relationships/hyperlink" Target="https://www.tandfonline.com/toc/tprs20/61/24" TargetMode="External"/><Relationship Id="rId9" Type="http://schemas.openxmlformats.org/officeDocument/2006/relationships/hyperlink" Target="https://www.sciencedirect.com/journal/computers-and-industrial-engineering" TargetMode="External"/><Relationship Id="rId14" Type="http://schemas.openxmlformats.org/officeDocument/2006/relationships/hyperlink" Target="https://www.sciencedirect.com/author/7202190067/yongrui-duan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andfonline.com/toc/tprs20/58/7" TargetMode="External"/><Relationship Id="rId13" Type="http://schemas.openxmlformats.org/officeDocument/2006/relationships/hyperlink" Target="https://www.tandfonline.com/toc/tprs20/62/15" TargetMode="External"/><Relationship Id="rId3" Type="http://schemas.openxmlformats.org/officeDocument/2006/relationships/hyperlink" Target="https://www.sciencedirect.com/journal/digital-chemical-engineering/vol/6/suppl/C" TargetMode="External"/><Relationship Id="rId7" Type="http://schemas.openxmlformats.org/officeDocument/2006/relationships/hyperlink" Target="https://www.tandfonline.com/journals/tprs20" TargetMode="External"/><Relationship Id="rId12" Type="http://schemas.openxmlformats.org/officeDocument/2006/relationships/hyperlink" Target="https://www.tandfonline.com/author/Chakrabortty%2C+Ripon+K" TargetMode="External"/><Relationship Id="rId2" Type="http://schemas.openxmlformats.org/officeDocument/2006/relationships/hyperlink" Target="https://www.sciencedirect.com/journal/digital-chemical-engineer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ink.springer.com/article/10.1007/s10479-024-06441-3#auth-Fatma_Betul-Yeni-Aff1" TargetMode="External"/><Relationship Id="rId11" Type="http://schemas.openxmlformats.org/officeDocument/2006/relationships/hyperlink" Target="https://www.tandfonline.com/author/Mashud%2C+Abu+Hashan+Md" TargetMode="External"/><Relationship Id="rId5" Type="http://schemas.openxmlformats.org/officeDocument/2006/relationships/hyperlink" Target="https://link.springer.com/article/10.1007/s10479-024-06441-3#auth-Behice_Meltem-Kayhan-Aff1" TargetMode="External"/><Relationship Id="rId15" Type="http://schemas.openxmlformats.org/officeDocument/2006/relationships/hyperlink" Target="https://www.tandfonline.com/author/Margaroli%2C+Fabrizio" TargetMode="External"/><Relationship Id="rId10" Type="http://schemas.openxmlformats.org/officeDocument/2006/relationships/hyperlink" Target="https://www.tandfonline.com/author/Schoenherr%2C+Tobias" TargetMode="External"/><Relationship Id="rId4" Type="http://schemas.openxmlformats.org/officeDocument/2006/relationships/hyperlink" Target="https://link.springer.com/journal/10479" TargetMode="External"/><Relationship Id="rId9" Type="http://schemas.openxmlformats.org/officeDocument/2006/relationships/hyperlink" Target="https://www.tandfonline.com/author/Manupati%2C+V+K" TargetMode="External"/><Relationship Id="rId14" Type="http://schemas.openxmlformats.org/officeDocument/2006/relationships/hyperlink" Target="https://www.tandfonline.com/author/Kosasih%2C+Edward+Elson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search/cs?searchtype=author&amp;query=Ye,+R" TargetMode="External"/><Relationship Id="rId2" Type="http://schemas.openxmlformats.org/officeDocument/2006/relationships/hyperlink" Target="https://ojs.aaai.org/index.php/AAAI/issue/view/246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search/cs?searchtype=author&amp;query=Pei,+X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link.springer.com/article/10.1007/s40305-025-00630-y#auth-Mu_Rong-Yang-Aff1" TargetMode="External"/><Relationship Id="rId3" Type="http://schemas.openxmlformats.org/officeDocument/2006/relationships/hyperlink" Target="https://www.nature.com/articles/s41598-025-22261-2#auth-Qiuying-Han-Aff1" TargetMode="External"/><Relationship Id="rId7" Type="http://schemas.openxmlformats.org/officeDocument/2006/relationships/hyperlink" Target="https://link.springer.com/journal/40305" TargetMode="External"/><Relationship Id="rId2" Type="http://schemas.openxmlformats.org/officeDocument/2006/relationships/hyperlink" Target="https://www.nature.com/sre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ature.com/articles/s41598-025-19974-9#auth-Barnab_s-Benedek-Aff2" TargetMode="External"/><Relationship Id="rId5" Type="http://schemas.openxmlformats.org/officeDocument/2006/relationships/hyperlink" Target="https://www.nature.com/articles/s41598-025-19974-9#auth-Bianka-Kov_cs-Aff1" TargetMode="External"/><Relationship Id="rId4" Type="http://schemas.openxmlformats.org/officeDocument/2006/relationships/hyperlink" Target="https://www.nature.com/articles/s41598-025-22261-2#auth-Shaohui-Zhang-Aff2-Aff3" TargetMode="External"/><Relationship Id="rId9" Type="http://schemas.openxmlformats.org/officeDocument/2006/relationships/hyperlink" Target="https://link.springer.com/article/10.1007/s40305-025-00630-y#auth-Xin_Jian-Xu-Aff1-Aff2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aggle.com/datasets/ziya07/smart-logistics-supply-chain-dataset?utm_source=chatgpt.com&amp;select=smart_logistics_dataset.csv" TargetMode="External"/><Relationship Id="rId13" Type="http://schemas.openxmlformats.org/officeDocument/2006/relationships/hyperlink" Target="https://www.aai.aero/en/business-opportunity/traffic-news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www.kaggle.com/datasets/stephanmatzka/predictive-maintenance-dataset-ai4i-2020?utm_source=chatgpt.com" TargetMode="External"/><Relationship Id="rId12" Type="http://schemas.openxmlformats.org/officeDocument/2006/relationships/hyperlink" Target="https://www.flightradar24.com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datasets/rabieelkharoua/predicting-manufacturing-defects-dataset?utm_source=chatgpt.com" TargetMode="External"/><Relationship Id="rId11" Type="http://schemas.openxmlformats.org/officeDocument/2006/relationships/hyperlink" Target="https://www.faa.gov/regulations_policies/airworthiness_directives/" TargetMode="External"/><Relationship Id="rId5" Type="http://schemas.openxmlformats.org/officeDocument/2006/relationships/hyperlink" Target="https://www.kaggle.com/datasets/shashwatwork/dataco-smart-supply-chain-for-big-data-analysis?utm_source=chatgpt.com" TargetMode="External"/><Relationship Id="rId10" Type="http://schemas.openxmlformats.org/officeDocument/2006/relationships/hyperlink" Target="https://www.dgca.gov.in/digigov-portal/" TargetMode="External"/><Relationship Id="rId4" Type="http://schemas.microsoft.com/office/2007/relationships/hdphoto" Target="../media/hdphoto1.wdp"/><Relationship Id="rId9" Type="http://schemas.openxmlformats.org/officeDocument/2006/relationships/hyperlink" Target="https://www.kaggle.com/datasets/datasetengineer/logistics-and-supply-chain-dataset?utm_source=chatgpt.com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slide" Target="slide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ody of water with trees and buildings in the background&#10;&#10;Description automatically generated">
            <a:extLst>
              <a:ext uri="{FF2B5EF4-FFF2-40B4-BE49-F238E27FC236}">
                <a16:creationId xmlns:a16="http://schemas.microsoft.com/office/drawing/2014/main" id="{686339CF-6C5E-FAA4-5333-D59AF105C52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14" b="46904"/>
          <a:stretch/>
        </p:blipFill>
        <p:spPr>
          <a:xfrm>
            <a:off x="0" y="4678386"/>
            <a:ext cx="12192000" cy="2179614"/>
          </a:xfrm>
          <a:prstGeom prst="rect">
            <a:avLst/>
          </a:prstGeom>
        </p:spPr>
      </p:pic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2D831E08-EF60-4823-A18C-E56085908A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4218" y="1920458"/>
            <a:ext cx="2461038" cy="66815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7">
            <a:extLst>
              <a:ext uri="{FF2B5EF4-FFF2-40B4-BE49-F238E27FC236}">
                <a16:creationId xmlns:a16="http://schemas.microsoft.com/office/drawing/2014/main" id="{4A6F4FC5-BF7E-4B39-9D08-166BD56C0C4E}"/>
              </a:ext>
            </a:extLst>
          </p:cNvPr>
          <p:cNvSpPr txBox="1">
            <a:spLocks/>
          </p:cNvSpPr>
          <p:nvPr/>
        </p:nvSpPr>
        <p:spPr>
          <a:xfrm>
            <a:off x="66891" y="506552"/>
            <a:ext cx="12192000" cy="5655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900" b="1" dirty="0">
                <a:solidFill>
                  <a:schemeClr val="accent5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Hypergraph-Based Risk Modelling for Multi-Echelon Manufacturing Supply Chains</a:t>
            </a:r>
            <a:br>
              <a:rPr lang="en-US" sz="2800" b="1" dirty="0"/>
            </a:br>
            <a:endParaRPr lang="en-IN" sz="2800" b="1" dirty="0">
              <a:solidFill>
                <a:srgbClr val="0033CC"/>
              </a:solidFill>
              <a:latin typeface="Cambria" panose="0204050305040603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F4629C-B15F-49E0-8EB8-4BF2E29CC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81810"/>
            <a:ext cx="515049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2700000" algn="tl" rotWithShape="0">
              <a:schemeClr val="bg1">
                <a:alpha val="50000"/>
              </a:scheme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 extrusionH="114300">
            <a:bevelT w="190500" h="38100"/>
            <a:extrusionClr>
              <a:schemeClr val="bg1"/>
            </a:extrusionClr>
          </a:sp3d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b="1" i="0" u="none" dirty="0">
                <a:latin typeface="Cambria" panose="02040503050406030204" pitchFamily="18" charset="0"/>
              </a:rPr>
              <a:t>Name of the Project Guide: </a:t>
            </a:r>
            <a:r>
              <a:rPr lang="en-US" sz="2000" b="1" dirty="0">
                <a:latin typeface="Cambria" panose="02040503050406030204" pitchFamily="18" charset="0"/>
              </a:rPr>
              <a:t>Aravind Raj S</a:t>
            </a:r>
            <a:endParaRPr lang="en-US" sz="2000" b="1" i="0" u="none" dirty="0">
              <a:latin typeface="Cambria" panose="02040503050406030204" pitchFamily="18" charset="0"/>
            </a:endParaRPr>
          </a:p>
          <a:p>
            <a:pPr>
              <a:defRPr/>
            </a:pPr>
            <a:r>
              <a:rPr lang="en-US" sz="2000" b="1" dirty="0">
                <a:latin typeface="Cambria" panose="02040503050406030204" pitchFamily="18" charset="0"/>
              </a:rPr>
              <a:t>School: SMEC</a:t>
            </a:r>
            <a:endParaRPr lang="en-US" sz="2000" b="1" i="0" u="none" dirty="0">
              <a:latin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B2AC1F-C442-4C3E-B727-E303B2CE8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" y="1072107"/>
            <a:ext cx="121907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i="0" u="none" dirty="0">
                <a:solidFill>
                  <a:srgbClr val="002060"/>
                </a:solidFill>
                <a:latin typeface="Cambria" panose="02040503050406030204" pitchFamily="18" charset="0"/>
              </a:rPr>
              <a:t>Name of the Students-</a:t>
            </a:r>
            <a:r>
              <a:rPr lang="en-US" sz="2000" dirty="0">
                <a:solidFill>
                  <a:srgbClr val="002060"/>
                </a:solidFill>
                <a:latin typeface="Cambria" panose="02040503050406030204" pitchFamily="18" charset="0"/>
              </a:rPr>
              <a:t> Anshu Kumar, Param Kamat</a:t>
            </a:r>
          </a:p>
          <a:p>
            <a:pPr algn="ctr"/>
            <a:r>
              <a:rPr lang="en-US" sz="2000" i="0" u="none" dirty="0">
                <a:solidFill>
                  <a:srgbClr val="002060"/>
                </a:solidFill>
                <a:latin typeface="Cambria" panose="02040503050406030204" pitchFamily="18" charset="0"/>
              </a:rPr>
              <a:t>	Reg. No.-  22BME0208, 22BME0217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C8E92E-9A9F-428E-B6BC-56C876E59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9975" y="4184391"/>
            <a:ext cx="35020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1600" dist="50800" dir="2700000" algn="tl" rotWithShape="0">
              <a:schemeClr val="bg1">
                <a:alpha val="50000"/>
              </a:scheme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800" b="1" i="0" u="none" dirty="0">
                <a:latin typeface="Cambria" panose="02040503050406030204" pitchFamily="18" charset="0"/>
              </a:rPr>
              <a:t>Date of Presentation:</a:t>
            </a:r>
            <a:r>
              <a:rPr lang="en-US" b="1" dirty="0">
                <a:latin typeface="Cambria" panose="02040503050406030204" pitchFamily="18" charset="0"/>
              </a:rPr>
              <a:t>18</a:t>
            </a:r>
            <a:r>
              <a:rPr lang="en-US" sz="1800" b="1" i="0" u="none" dirty="0">
                <a:latin typeface="Cambria" panose="02040503050406030204" pitchFamily="18" charset="0"/>
              </a:rPr>
              <a:t>/03/26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90DA2B-D29B-46CA-8063-06ED9FEFE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0555" y="3265871"/>
            <a:ext cx="60083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C00000"/>
                </a:solidFill>
                <a:latin typeface="Cambria" panose="02040503050406030204" pitchFamily="18" charset="0"/>
              </a:rPr>
              <a:t>Second</a:t>
            </a:r>
            <a:r>
              <a:rPr lang="en-US" sz="2000" b="1" i="0" u="none" dirty="0">
                <a:solidFill>
                  <a:srgbClr val="C00000"/>
                </a:solidFill>
                <a:latin typeface="Cambria" panose="02040503050406030204" pitchFamily="18" charset="0"/>
              </a:rPr>
              <a:t> Review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580B04-8091-4932-B37B-C73D71C39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1393" y="2730355"/>
            <a:ext cx="56066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1600" dist="50800" dir="2700000" algn="tl" rotWithShape="0">
              <a:schemeClr val="bg1">
                <a:alpha val="50000"/>
              </a:scheme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2400" b="1" i="0" u="none" dirty="0">
                <a:latin typeface="Cambria" panose="02040503050406030204" pitchFamily="18" charset="0"/>
              </a:rPr>
              <a:t>School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665711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8" name="Rectangle 717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7180" name="Rectangle 717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82" name="Rectangle 718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84" name="Rectangle 718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86" name="Rectangle 718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88" name="Freeform: Shape 718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190" name="Rectangle 718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1010297" y="3198180"/>
            <a:ext cx="2017222" cy="441359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sz="3200" dirty="0">
                <a:solidFill>
                  <a:srgbClr val="FFFFFF"/>
                </a:solidFill>
                <a:latin typeface="Cambria" panose="02040503050406030204" pitchFamily="18" charset="0"/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331744" indent="-257102">
              <a:buFont typeface="Wingdings 2"/>
              <a:buChar char=""/>
              <a:defRPr/>
            </a:pPr>
            <a:r>
              <a:rPr lang="en-US" sz="2000" dirty="0">
                <a:latin typeface="Cambria" panose="02040503050406030204" pitchFamily="18" charset="0"/>
              </a:rPr>
              <a:t>Introduction</a:t>
            </a:r>
          </a:p>
          <a:p>
            <a:pPr marL="331744" indent="-257102">
              <a:buFont typeface="Wingdings 2"/>
              <a:buChar char=""/>
              <a:defRPr/>
            </a:pPr>
            <a:r>
              <a:rPr lang="en-US" sz="2000" dirty="0">
                <a:latin typeface="Cambria" panose="02040503050406030204" pitchFamily="18" charset="0"/>
              </a:rPr>
              <a:t>Literature Review</a:t>
            </a:r>
          </a:p>
          <a:p>
            <a:pPr marL="832816" lvl="2" indent="-257102">
              <a:buFont typeface="Wingdings 2"/>
              <a:buChar char=""/>
              <a:defRPr/>
            </a:pPr>
            <a:r>
              <a:rPr lang="en-US" dirty="0">
                <a:latin typeface="Cambria" panose="02040503050406030204" pitchFamily="18" charset="0"/>
              </a:rPr>
              <a:t>Knowledge gained</a:t>
            </a:r>
          </a:p>
          <a:p>
            <a:pPr marL="832816" lvl="2" indent="-257102">
              <a:buFont typeface="Wingdings 2"/>
              <a:buChar char=""/>
              <a:defRPr/>
            </a:pPr>
            <a:r>
              <a:rPr lang="en-US" dirty="0">
                <a:latin typeface="Cambria" panose="02040503050406030204" pitchFamily="18" charset="0"/>
              </a:rPr>
              <a:t>Gaps identified from literature</a:t>
            </a:r>
          </a:p>
          <a:p>
            <a:pPr marL="331744" indent="-257102">
              <a:buFont typeface="Wingdings 2"/>
              <a:buChar char=""/>
              <a:defRPr/>
            </a:pPr>
            <a:r>
              <a:rPr lang="en-US" sz="2000" dirty="0">
                <a:latin typeface="Cambria" panose="02040503050406030204" pitchFamily="18" charset="0"/>
              </a:rPr>
              <a:t>Objectives</a:t>
            </a:r>
          </a:p>
          <a:p>
            <a:pPr marL="331744" indent="-257102">
              <a:buFont typeface="Wingdings 2"/>
              <a:buChar char=""/>
              <a:defRPr/>
            </a:pPr>
            <a:r>
              <a:rPr lang="en-US" sz="2000" dirty="0">
                <a:latin typeface="Cambria" panose="02040503050406030204" pitchFamily="18" charset="0"/>
              </a:rPr>
              <a:t>Methodology / Action Plan</a:t>
            </a:r>
          </a:p>
          <a:p>
            <a:pPr marL="331744" indent="-257102">
              <a:buFont typeface="Wingdings 2"/>
              <a:buChar char=""/>
              <a:defRPr/>
            </a:pPr>
            <a:r>
              <a:rPr lang="en-US" sz="2000" dirty="0">
                <a:latin typeface="Cambria" panose="02040503050406030204" pitchFamily="18" charset="0"/>
              </a:rPr>
              <a:t>Milestones and Project Execution Stages</a:t>
            </a:r>
          </a:p>
          <a:p>
            <a:pPr marL="331744" indent="-257102">
              <a:buFont typeface="Wingdings 2"/>
              <a:buChar char=""/>
              <a:defRPr/>
            </a:pPr>
            <a:r>
              <a:rPr lang="en-US" sz="2000" dirty="0">
                <a:latin typeface="Cambria" panose="02040503050406030204" pitchFamily="18" charset="0"/>
              </a:rPr>
              <a:t>Experimental procedure</a:t>
            </a:r>
          </a:p>
          <a:p>
            <a:pPr marL="331744" indent="-257102">
              <a:buFont typeface="Wingdings 2"/>
              <a:buChar char=""/>
              <a:defRPr/>
            </a:pPr>
            <a:r>
              <a:rPr lang="en-US" sz="2000" dirty="0">
                <a:latin typeface="Cambria" panose="02040503050406030204" pitchFamily="18" charset="0"/>
              </a:rPr>
              <a:t>Preliminary Results</a:t>
            </a:r>
          </a:p>
          <a:p>
            <a:pPr marL="331744" indent="-257102">
              <a:buFont typeface="Wingdings 2"/>
              <a:buChar char=""/>
              <a:defRPr/>
            </a:pPr>
            <a:r>
              <a:rPr lang="en-US" sz="2000" dirty="0">
                <a:latin typeface="Cambria" panose="02040503050406030204" pitchFamily="18" charset="0"/>
              </a:rPr>
              <a:t>Work carried out so far</a:t>
            </a:r>
          </a:p>
          <a:p>
            <a:pPr marL="331744" indent="-257102">
              <a:buFont typeface="Wingdings 2"/>
              <a:buChar char=""/>
              <a:defRPr/>
            </a:pPr>
            <a:r>
              <a:rPr lang="en-US" sz="2000" dirty="0">
                <a:latin typeface="Cambria" panose="02040503050406030204" pitchFamily="18" charset="0"/>
              </a:rPr>
              <a:t>Work to be done</a:t>
            </a:r>
          </a:p>
          <a:p>
            <a:endParaRPr lang="en-IN" sz="2000" dirty="0">
              <a:latin typeface="Cambria" panose="02040503050406030204" pitchFamily="18" charset="0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92D68237-E2A1-7731-C5F3-606CDC8174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0962" y="190010"/>
            <a:ext cx="2461038" cy="66815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BE1CA-83A6-412D-72B0-F2FB6C6C8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6530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7" name="Freeform: Shape 308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89" name="Rectangle 308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225" y="2979126"/>
            <a:ext cx="3201366" cy="879468"/>
          </a:xfrm>
        </p:spPr>
        <p:txBody>
          <a:bodyPr anchor="b">
            <a:normAutofit/>
          </a:bodyPr>
          <a:lstStyle/>
          <a:p>
            <a:pPr algn="ctr"/>
            <a:r>
              <a:rPr lang="en-IN" sz="3200" dirty="0">
                <a:solidFill>
                  <a:srgbClr val="FFFFFF"/>
                </a:solidFill>
                <a:latin typeface="Cambria" panose="02040503050406030204" pitchFamily="18" charset="0"/>
              </a:rPr>
              <a:t>Introduction</a:t>
            </a:r>
            <a:r>
              <a:rPr lang="en-IN" sz="4000" dirty="0">
                <a:solidFill>
                  <a:srgbClr val="FFFFFF"/>
                </a:solidFill>
                <a:latin typeface="Cambria" panose="02040503050406030204" pitchFamily="18" charset="0"/>
              </a:rPr>
              <a:t> </a:t>
            </a:r>
            <a:endParaRPr lang="en-IN" sz="4000" i="1" dirty="0">
              <a:solidFill>
                <a:srgbClr val="FFFF00"/>
              </a:solidFill>
              <a:latin typeface="Cambria" panose="02040503050406030204" pitchFamily="18" charset="0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EAE59F6A-71CD-0448-43B6-988D75D56D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1338" y="177310"/>
            <a:ext cx="2461038" cy="66815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40B4D5-A65E-F1AF-E354-F866B7915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</a:t>
            </a:fld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1072493-4ACD-1C20-D125-9E768A362B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56167" y="1738589"/>
            <a:ext cx="791443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Supply Chain Management (SCM) integrates material, information, and financial flows across supply chain partners to improve efficiency and resilience.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Modern manufacturing supply chains are complex, global, and highly susceptible to disruptions, making SCM a strategic function.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Emerging approaches such as Green SCM, Reverse Logistics, and Sustainable SCM increase interdependence and structural complexity within supply networks.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Multi-Echelon Supply Chain Management (ME-SCM) focuses on coordination across multiple tiers and requires system-level modeling to address cascading risks.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691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4" name="Rectangle 5133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6" name="Rectangle 5135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8" name="Rectangle 5137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40" name="Rectangle 5139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838" y="5959312"/>
            <a:ext cx="8115300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Review(Supply Chain Concepts)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376711"/>
              </p:ext>
            </p:extLst>
          </p:nvPr>
        </p:nvGraphicFramePr>
        <p:xfrm>
          <a:off x="0" y="-107262"/>
          <a:ext cx="12201832" cy="538960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31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6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8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235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4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Title of the paper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Journal</a:t>
                      </a:r>
                      <a:r>
                        <a:rPr lang="en-US" sz="1400" b="0" cap="none" spc="0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&amp; Year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Authors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Remarks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35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Ten-tier and multi-scale supply chain network analysis of medical equipment: random failure &amp; intelligent attack analysis</a:t>
                      </a:r>
                      <a:endParaRPr lang="en-US" sz="400" b="0" i="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17050" marT="27920" marB="93067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3"/>
                        </a:rPr>
                        <a:t>International Journal of Production Research </a:t>
                      </a:r>
                      <a:b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Volume 61, 2023 - </a:t>
                      </a:r>
                      <a:r>
                        <a:rPr lang="en-US" sz="1200" b="0" i="0" u="sng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4"/>
                        </a:rPr>
                        <a:t>Issue 24</a:t>
                      </a:r>
                      <a:endParaRPr lang="nl-NL" sz="105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5"/>
                        </a:rPr>
                        <a:t>Kayvan Miri </a:t>
                      </a:r>
                      <a:r>
                        <a:rPr lang="en-IN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5"/>
                        </a:rPr>
                        <a:t>Lavassani</a:t>
                      </a:r>
                      <a:b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</a:br>
                      <a: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6"/>
                        </a:rPr>
                        <a:t>Zachary M. Boyd</a:t>
                      </a:r>
                      <a:b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endParaRPr lang="en-US" sz="14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Global medical equipment supply chain (~45,000 firms)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Random failures and targeted attacks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Tier-optimization for network robustness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Deep-tier disruptions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Cascading failures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Systemic vulnerability thresholds beyond first-tier visibility</a:t>
                      </a:r>
                    </a:p>
                    <a:p>
                      <a:pPr algn="ctr" fontAlgn="base" latinLnBrk="0">
                        <a:buNone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6052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Multi-echelon supply chain coordination: Contract sequence and cut-off policies</a:t>
                      </a:r>
                      <a:endParaRPr lang="en-US" sz="105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7" tooltip="Go to International Journal of Production Economics on ScienceDirect"/>
                        </a:rPr>
                        <a:t>International Journal of Production Economics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8" tooltip="Go to table of contents for this volume/issue"/>
                        </a:rPr>
                        <a:t>Volume 259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May 2023, 108823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sv-SE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Indranil Biswas</a:t>
                      </a:r>
                      <a:r>
                        <a:rPr lang="sv-SE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</a:t>
                      </a:r>
                      <a:br>
                        <a:rPr lang="sv-SE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</a:br>
                      <a:r>
                        <a:rPr lang="sv-SE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Rohit Gupta</a:t>
                      </a:r>
                      <a:r>
                        <a:rPr lang="sv-SE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Decentralized three-echelon supply chain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Contract sequencing under incomplete information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Profit allocation, coordination, and trade feasibility</a:t>
                      </a:r>
                    </a:p>
                    <a:p>
                      <a:pPr algn="ctr" fontAlgn="base" latinLnBrk="0">
                        <a:buNone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Bargaining power in multi-echelon supply chains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Dynamic multi-agent coordination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Realistic profit distribution</a:t>
                      </a:r>
                    </a:p>
                    <a:p>
                      <a:pPr algn="ctr" fontAlgn="base" latinLnBrk="0">
                        <a:buNone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15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 resilient-green model for multi-echelon meat supply chain planning</a:t>
                      </a:r>
                    </a:p>
                    <a:p>
                      <a:pPr algn="ctr" fontAlgn="base" latinLnBrk="0">
                        <a:buNone/>
                      </a:pPr>
                      <a:endParaRPr lang="en-IN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9" tooltip="Go to Computers &amp; Industrial Engineering on ScienceDirect"/>
                        </a:rPr>
                        <a:t>Computers &amp; Industrial Engineering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0" tooltip="Go to table of contents for this volume/issue"/>
                        </a:rPr>
                        <a:t>Volume 152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February 2021, 107018</a:t>
                      </a:r>
                    </a:p>
                    <a:p>
                      <a:pPr algn="ctr" fontAlgn="base" latinLnBrk="0">
                        <a:buNone/>
                      </a:pPr>
                      <a:endParaRPr lang="nl-NL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Seyed Mohammad Gholami-Zanjani</a:t>
                      </a:r>
                      <a:r>
                        <a:rPr lang="en-IN" sz="11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</a:t>
                      </a:r>
                      <a:br>
                        <a:rPr lang="en-IN" sz="11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</a:br>
                      <a:r>
                        <a:rPr lang="en-IN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1"/>
                        </a:rPr>
                        <a:t>Mohammad Saeed Jabalameli</a:t>
                      </a:r>
                      <a:endParaRPr lang="es-ES" sz="1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Bi-objective stochastic three-echelon meat supply chain model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(s, S) replenishment with perishability, freshness-based pricing, and environmental impact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Monte-Carlo analysis of disruption effects (capacity loss, inventory drops)</a:t>
                      </a:r>
                    </a:p>
                    <a:p>
                      <a:pPr algn="ctr" fontAlgn="base" latinLnBrk="0">
                        <a:buNone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Perishable supply chains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Profit–carbon footprint trade-off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 volatility environments</a:t>
                      </a:r>
                    </a:p>
                    <a:p>
                      <a:pPr algn="ctr" fontAlgn="base" latinLnBrk="0">
                        <a:buNone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15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Impacts of store-brand introduction on a multiple-echelon supply chain</a:t>
                      </a:r>
                    </a:p>
                    <a:p>
                      <a:pPr algn="ctr" fontAlgn="base" latinLnBrk="0">
                        <a:buNone/>
                      </a:pPr>
                      <a:endParaRPr lang="en-IN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2" tooltip="Go to European Journal of Operational Research on ScienceDirect"/>
                        </a:rPr>
                        <a:t>European Journal of Operational Research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3" tooltip="Go to table of contents for this volume/issue"/>
                        </a:rPr>
                        <a:t>Volume 292, Issue 2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16 July 2021, Pages 652-662</a:t>
                      </a:r>
                    </a:p>
                    <a:p>
                      <a:pPr algn="ctr" fontAlgn="base" latinLnBrk="0">
                        <a:buNone/>
                      </a:pPr>
                      <a:endParaRPr lang="nl-NL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Rong Cheng </a:t>
                      </a:r>
                      <a:r>
                        <a:rPr lang="en-US" sz="1200" baseline="30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</a:t>
                      </a:r>
                      <a:r>
                        <a:rPr lang="en-US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4"/>
                        </a:rPr>
                        <a:t>Yongrui</a:t>
                      </a: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4"/>
                        </a:rPr>
                        <a:t> Duan</a:t>
                      </a:r>
                      <a:endParaRPr lang="es-E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Game-theoretic three-echelon supply chain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Retailer store-brand introduction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Three-stage Stackelberg model with distributor buffering</a:t>
                      </a:r>
                    </a:p>
                    <a:p>
                      <a:pPr algn="ctr" fontAlgn="base" latinLnBrk="0">
                        <a:buNone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Win–win outcomes from store-brand entry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Multi-echelon supply chain advantage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Limitations of traditional two-echelon models</a:t>
                      </a:r>
                    </a:p>
                    <a:p>
                      <a:pPr algn="ctr" fontAlgn="base" latinLnBrk="0">
                        <a:buNone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24556666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9E1E1C-6D7E-A737-74C0-69855C7A3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750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2E74D-BF57-B3E5-4522-848B3276B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BD765-5974-77D5-8A1B-43A39A9E7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832" y="-322401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Literature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991C9-81B3-590F-34FF-97BFED6D3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5</a:t>
            </a:fld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7ABA1B6-B067-8F6F-4D2C-E9EDB0493F72}"/>
              </a:ext>
            </a:extLst>
          </p:cNvPr>
          <p:cNvGraphicFramePr>
            <a:graphicFrameLocks noGrp="1"/>
          </p:cNvGraphicFramePr>
          <p:nvPr/>
        </p:nvGraphicFramePr>
        <p:xfrm>
          <a:off x="-9832" y="681093"/>
          <a:ext cx="12201832" cy="604038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31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6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94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75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4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Title of the paper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Journal</a:t>
                      </a:r>
                      <a:r>
                        <a:rPr lang="en-US" sz="1400" b="0" cap="none" spc="0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&amp; Year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Authors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Remarks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9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Distributional reinforcement learning for inventory management in multi-echelon supply chains</a:t>
                      </a:r>
                    </a:p>
                  </a:txBody>
                  <a:tcPr marL="0" marR="17050" marT="27920" marB="9306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2" tooltip="Go to Digital Chemical Engineering on ScienceDirect"/>
                        </a:rPr>
                        <a:t>Digital Chemical Engineering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3" tooltip="Go to table of contents for this volume/issue"/>
                        </a:rPr>
                        <a:t>Volume 6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March 2023, 100073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pt-BR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Guoquan Wu </a:t>
                      </a:r>
                      <a:r>
                        <a:rPr lang="pt-BR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</a:t>
                      </a:r>
                      <a:r>
                        <a:rPr lang="pt-BR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Miguel Ángel de Carvalho Servia</a:t>
                      </a:r>
                      <a:endParaRPr lang="en-US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Deep reinforcement learning for supply chain decisions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Risk-sensitive policy optimization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CVaR-based protection against severe disruptions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Computational alternative to traditional OR methods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Large-scale network complexity handling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Mitigation of combinatorial explosion</a:t>
                      </a:r>
                    </a:p>
                    <a:p>
                      <a:pPr marL="285750" indent="-2857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6052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 fuzzy optimization-oriented decision support model to examine key industry 4.0 strategies for building resilience against disruptions in a healthcare supply chain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4"/>
                        </a:rPr>
                        <a:t>Annals of Operations Research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Published: 26 December 2024</a:t>
                      </a:r>
                    </a:p>
                    <a:p>
                      <a:pPr algn="ctr"/>
                      <a:endParaRPr lang="en-IN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5"/>
                        </a:rPr>
                        <a:t>Behice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5"/>
                        </a:rPr>
                        <a:t> Meltem Kayhan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</a:t>
                      </a:r>
                    </a:p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6"/>
                        </a:rPr>
                        <a:t>Fatma Betul Yeni</a:t>
                      </a:r>
                      <a:endParaRPr lang="en-IN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Industry 4.0 technologies for healthcare supply chain resilience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Fermatean</a:t>
                      </a: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fuzzy numbers with goal programming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Digital investment alignment with SCOR processes</a:t>
                      </a:r>
                    </a:p>
                    <a:p>
                      <a:pPr marL="285750" indent="-2857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Digital investment prioritization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Digital Twin for planning processes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Blockchain for order and return processes</a:t>
                      </a:r>
                    </a:p>
                    <a:p>
                      <a:pPr marL="285750" indent="-2857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9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 blockchain-based approach for a multi-echelon sustainable supply chain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7"/>
                        </a:rPr>
                        <a:t>International Journal of Production Research 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Volume 58, 2020 - </a:t>
                      </a:r>
                      <a:r>
                        <a:rPr lang="en-US" sz="1200" b="0" i="0" u="sng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8"/>
                        </a:rPr>
                        <a:t>Issue 7</a:t>
                      </a:r>
                      <a:endParaRPr lang="nl-NL" sz="10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9"/>
                        </a:rPr>
                        <a:t>V. K. </a:t>
                      </a:r>
                      <a:r>
                        <a:rPr lang="en-US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9"/>
                        </a:rPr>
                        <a:t>Manupati</a:t>
                      </a:r>
                      <a:b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</a:b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0"/>
                        </a:rPr>
                        <a:t>Tobias Schoenherr</a:t>
                      </a:r>
                      <a:endParaRPr lang="es-ES" sz="9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Blockchain-based supply chain monitoring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Joint optimization of cost and carbon emissions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Smart-contract emission threshold alerts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Digitalization with carbon taxation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Real-time decision-making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Transparency in multi-tier value webs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80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Disruption-resilient multi-echelon supply chains: a model integrating carbon emissions and social welfare investments</a:t>
                      </a:r>
                      <a:endParaRPr lang="en-IN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br>
                        <a:rPr lang="en-US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International Journal of Production Research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Published online: 26 Nov 2025</a:t>
                      </a:r>
                      <a:endParaRPr lang="nl-NL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1"/>
                        </a:rPr>
                        <a:t>Abu Hashan Md Mashud</a:t>
                      </a:r>
                      <a:b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2"/>
                        </a:rPr>
                        <a:t>Ripon K. </a:t>
                      </a:r>
                      <a:r>
                        <a:rPr lang="en-IN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2"/>
                        </a:rPr>
                        <a:t>Chakrabortty</a:t>
                      </a:r>
                      <a:b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endParaRPr lang="es-ES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Sequential production and transportation disruptions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Production–3PL schedule coordination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Social-welfare-oriented resource allocation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Social investment decision variable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Triple Bottom Line integration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Profitability under uncertainty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245566668"/>
                  </a:ext>
                </a:extLst>
              </a:tr>
              <a:tr h="1081461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Towards knowledge graph reasoning for supply chain risk management using graph neural networks</a:t>
                      </a:r>
                      <a:endParaRPr lang="en-IN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b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7"/>
                        </a:rPr>
                      </a:b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7"/>
                        </a:rPr>
                        <a:t>International Journal of Production Research 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Volume 62, 2024 - </a:t>
                      </a:r>
                      <a:r>
                        <a:rPr lang="en-US" sz="1200" b="0" i="0" u="sng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3"/>
                        </a:rPr>
                        <a:t>Issue 15</a:t>
                      </a:r>
                      <a:endParaRPr lang="nl-NL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4"/>
                        </a:rPr>
                        <a:t>Edward Elson Kosasih</a:t>
                      </a:r>
                      <a:b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5"/>
                        </a:rPr>
                        <a:t>Fabrizio </a:t>
                      </a:r>
                      <a:r>
                        <a:rPr lang="en-IN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5"/>
                        </a:rPr>
                        <a:t>Margaroli</a:t>
                      </a:r>
                      <a:b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endParaRPr lang="es-ES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Neuro symbolic ML with supply chain knowledge graphs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GNN-based hidden risk discovery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Multi-type relationship inference beyond supplier links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Hypergraph-based supply chain modeling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Multi-hop query information discovery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Hidden risks in siloed data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3259958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1432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D64D1D-444D-8BE0-7330-739158A66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4" name="Rectangle 5133">
            <a:extLst>
              <a:ext uri="{FF2B5EF4-FFF2-40B4-BE49-F238E27FC236}">
                <a16:creationId xmlns:a16="http://schemas.microsoft.com/office/drawing/2014/main" id="{0BF21633-49DA-4CD9-C1AF-A91397301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6" name="Rectangle 5135">
            <a:extLst>
              <a:ext uri="{FF2B5EF4-FFF2-40B4-BE49-F238E27FC236}">
                <a16:creationId xmlns:a16="http://schemas.microsoft.com/office/drawing/2014/main" id="{6A1B6CC7-E5A5-FA38-D359-6090F8108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8" name="Rectangle 5137">
            <a:extLst>
              <a:ext uri="{FF2B5EF4-FFF2-40B4-BE49-F238E27FC236}">
                <a16:creationId xmlns:a16="http://schemas.microsoft.com/office/drawing/2014/main" id="{490889B3-9243-1E79-6D76-F07078585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40" name="Rectangle 5139">
            <a:extLst>
              <a:ext uri="{FF2B5EF4-FFF2-40B4-BE49-F238E27FC236}">
                <a16:creationId xmlns:a16="http://schemas.microsoft.com/office/drawing/2014/main" id="{36F16246-76A2-1063-01D7-CC3A25203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F92E8C-2F61-421C-D37A-2C420661A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19649"/>
            <a:ext cx="8023123" cy="8458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Review (Hypergraph Concepts)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7430DAC-8470-5ABE-F8FC-CD6B1E464F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901342"/>
              </p:ext>
            </p:extLst>
          </p:nvPr>
        </p:nvGraphicFramePr>
        <p:xfrm>
          <a:off x="-9838" y="0"/>
          <a:ext cx="12201832" cy="523674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31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7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92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630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83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Title of the paper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Journal/Proceedings</a:t>
                      </a:r>
                      <a:r>
                        <a:rPr lang="en-US" sz="1400" b="0" cap="none" spc="0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&amp; Year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Authors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Remarks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9697"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Hypergraph Neural Networks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 </a:t>
                      </a:r>
                      <a: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2"/>
                        </a:rPr>
                        <a:t>Vol. 33 No. 01: AAAI-19, IAAI-19, EAAI-20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 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Yifan Feng</a:t>
                      </a:r>
                      <a:b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</a:b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Haoxuan You</a:t>
                      </a:r>
                      <a:endParaRPr lang="en-US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Hypergraph-based data representation learning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High-order data correlation encoding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Hyperedge convolution with node–edge–node transformation</a:t>
                      </a:r>
                    </a:p>
                    <a:p>
                      <a:pPr algn="ctr" fontAlgn="base" latinLnBrk="0">
                        <a:buNone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Generalization of GCNs to hypergraphs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Graph edges as 2-order hyperedges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Foundational hypergraph learning theory</a:t>
                      </a:r>
                    </a:p>
                    <a:p>
                      <a:pPr algn="ctr" fontAlgn="base" latinLnBrk="0">
                        <a:buNone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96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Hypernetwork science via high-order hypergraph walks</a:t>
                      </a:r>
                    </a:p>
                    <a:p>
                      <a:pPr algn="ctr"/>
                      <a:endParaRPr lang="en-IN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EPJ Data Sci. (2020)</a:t>
                      </a:r>
                      <a:b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Published online: 10 June 2020</a:t>
                      </a:r>
                      <a:endParaRPr lang="en-IN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Sinan G. Aksoy</a:t>
                      </a:r>
                      <a:b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</a:b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Cliff Joslyn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 fontAlgn="base" latinLnBrk="0">
                        <a:buNone/>
                      </a:pPr>
                      <a:endParaRPr lang="en-US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s-walk framework for hypergraph networks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Higher-order connectivity via overlap order 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Extension of graph metrics to hypergraphs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Hypergraph-native phenomena identification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Loss from pairwise graph reduction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Higher-order structural patterns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553802469"/>
                  </a:ext>
                </a:extLst>
              </a:tr>
              <a:tr h="1384605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Classification in Biological Networks with </a:t>
                      </a:r>
                      <a:r>
                        <a:rPr lang="en-US" sz="12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Hypergraphlet</a:t>
                      </a: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Kernels</a:t>
                      </a:r>
                      <a:endParaRPr lang="en-IN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Bioinformatics, Volume 37, Issue 7, March 2021, Pages 1000–1007</a:t>
                      </a:r>
                      <a:endParaRPr lang="nl-NL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s-ES" sz="12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Jose</a:t>
                      </a:r>
                      <a:r>
                        <a:rPr lang="es-ES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Lugo-</a:t>
                      </a:r>
                      <a:r>
                        <a:rPr lang="es-ES" sz="12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Martinez</a:t>
                      </a:r>
                      <a:r>
                        <a:rPr lang="es-ES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, Daniel </a:t>
                      </a:r>
                      <a:r>
                        <a:rPr lang="es-ES" sz="12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Zeiberg</a:t>
                      </a:r>
                      <a:r>
                        <a:rPr lang="es-ES" sz="14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.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Hypergraph-based supply chain modeling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Higher-order, multi-object interactions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Reduced information loss over traditional graphs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Group-level risk analysis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Hyperedge–dual-vertex equivalence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Engineering-consistent risk modeling</a:t>
                      </a:r>
                    </a:p>
                    <a:p>
                      <a:pPr algn="ctr" fontAlgn="base" latinLnBrk="0">
                        <a:buNone/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.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4605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Hyperedge Interaction-aware Hypergraph Neural Network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i="0" dirty="0">
                          <a:effectLst/>
                        </a:rPr>
                        <a:t>arXiv:2401.15587</a:t>
                      </a:r>
                    </a:p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Computer Science &gt; Machine Learning</a:t>
                      </a:r>
                      <a:b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</a:br>
                      <a:r>
                        <a:rPr lang="en-IN" sz="1200" b="0" i="1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5 Apr 2024 </a:t>
                      </a:r>
                      <a:endParaRPr lang="en-IN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3"/>
                        </a:rPr>
                        <a:t>Rongping</a:t>
                      </a:r>
                      <a: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3"/>
                        </a:rPr>
                        <a:t> Ye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</a:t>
                      </a:r>
                      <a: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4"/>
                        </a:rPr>
                        <a:t>Xiaobing Pei</a:t>
                      </a:r>
                      <a:endParaRPr lang="es-ES" sz="105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HeIHNN</a:t>
                      </a: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hypergraph neural network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Hyperedge–hyperedge interaction </a:t>
                      </a:r>
                      <a:r>
                        <a:rPr lang="en-IN" sz="1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modeling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Three-stage convolution propagation (N–E–E–N)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HeIHNN</a:t>
                      </a: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hypergraph neural network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Hyperedge–hyperedge interaction </a:t>
                      </a:r>
                      <a:r>
                        <a:rPr lang="en-IN" sz="1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modeling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Three-stage convolution propagation (N–E–E–N)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54654593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17F924-38B5-A267-FD39-AA043C9FC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6569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AFCB2-D39B-C632-384B-F13EAD6E4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2" y="-246201"/>
            <a:ext cx="10374016" cy="1325563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Literature Review</a:t>
            </a:r>
            <a:endParaRPr lang="en-I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D9471-A373-20B6-1EB8-7A59332C9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7</a:t>
            </a:fld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ACFAF9B-7346-2628-E094-2E2F050CC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662423"/>
              </p:ext>
            </p:extLst>
          </p:nvPr>
        </p:nvGraphicFramePr>
        <p:xfrm>
          <a:off x="-9832" y="884293"/>
          <a:ext cx="12192000" cy="416029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216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6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9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75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4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Title of the paper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Journal</a:t>
                      </a:r>
                      <a:r>
                        <a:rPr lang="en-US" sz="1400" b="0" cap="none" spc="0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&amp; Year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Authors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Remarks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9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Dual chain dynamic hypergraph convolution network for 3D human pose estimation</a:t>
                      </a:r>
                    </a:p>
                  </a:txBody>
                  <a:tcPr marL="0" marR="17050" marT="27920" marB="9306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1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2"/>
                        </a:rPr>
                        <a:t>Scientific Reports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 volume 15, Article number: 35211 (2025)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3"/>
                        </a:rPr>
                        <a:t>Qiuying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3"/>
                        </a:rPr>
                        <a:t> Han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</a:t>
                      </a:r>
                    </a:p>
                    <a:p>
                      <a:pPr algn="ctr"/>
                      <a:r>
                        <a:rPr lang="en-IN" sz="1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4"/>
                        </a:rPr>
                        <a:t>Shaohui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4"/>
                        </a:rPr>
                        <a:t> Zhang</a:t>
                      </a:r>
                      <a:endParaRPr lang="en-IN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Dual Chain Dynamic Hypergraph Convolution Network (DCD-HCN)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Decoupled hypergraph construction and convolution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Improved adaptability to diverse human poses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Hyperedge-weight parameter matching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Unique weighting of potential hyperedges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 fidelity with low computational complexity</a:t>
                      </a:r>
                    </a:p>
                    <a:p>
                      <a:pPr marL="285750" indent="-2857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60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Community detection in hypergraphs through hyperedge percolation</a:t>
                      </a:r>
                    </a:p>
                    <a:p>
                      <a:pPr algn="ctr"/>
                      <a:endParaRPr lang="en-US" sz="10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1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2"/>
                        </a:rPr>
                        <a:t>Scientific Reports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 volume 15, Article number: 36032 (2025) </a:t>
                      </a:r>
                      <a:endParaRPr lang="en-IN" sz="10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5"/>
                        </a:rPr>
                        <a:t>Bianka Kovács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</a:t>
                      </a:r>
                    </a:p>
                    <a:p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6"/>
                        </a:rPr>
                        <a:t>Barnabás Benedek</a:t>
                      </a:r>
                      <a:endParaRPr lang="en-IN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k-clique percolation adapted to hypergraphs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Overlapping community detection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Dual strategies based on hyperedge size</a:t>
                      </a:r>
                    </a:p>
                    <a:p>
                      <a:pPr marL="285750" indent="-2857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Hyperedge-based community structures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Limitations of pairwise projections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Need for higher-order detection methods</a:t>
                      </a:r>
                    </a:p>
                    <a:p>
                      <a:pPr marL="285750" indent="-2857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9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Recent Advances in Hypergraph Neural Networks</a:t>
                      </a:r>
                      <a:endParaRPr lang="en-IN" sz="7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 </a:t>
                      </a:r>
                    </a:p>
                    <a:p>
                      <a:pPr 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7"/>
                        </a:rPr>
                        <a:t>Journal of the Operations Research Society of China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Published: 13 September 2025</a:t>
                      </a:r>
                    </a:p>
                    <a:p>
                      <a:pPr algn="ctr"/>
                      <a:endParaRPr lang="nl-NL" sz="7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8"/>
                        </a:rPr>
                        <a:t>Mu-Rong Yang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 &amp; </a:t>
                      </a:r>
                    </a:p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9"/>
                        </a:rPr>
                        <a:t>Xin-Jian Xu</a:t>
                      </a:r>
                      <a:endParaRPr lang="en-IN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State-of-the-art hypergraph neural networks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Architectural variations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Performance across diverse tasks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Contemporary hypergraph modeling roadmap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Shift from static to dynamic representations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Flexible hypergraph learning techniques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9817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64504-813B-529E-38C1-BA51B1FD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" y="65651"/>
            <a:ext cx="8115299" cy="1525090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Knowledge gained from the literature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7DC34-4D61-DC1F-0DF7-9885DC07E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6183" y="6174105"/>
            <a:ext cx="7942680" cy="45719"/>
          </a:xfrm>
        </p:spPr>
        <p:txBody>
          <a:bodyPr anchor="ctr">
            <a:normAutofit fontScale="25000" lnSpcReduction="20000"/>
          </a:bodyPr>
          <a:lstStyle/>
          <a:p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7DE4E5D3-19E6-EFC6-898B-9633244ADD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5E3F3-8986-BF38-AACF-5952F7323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8</a:t>
            </a:fld>
            <a:endParaRPr lang="en-IN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514AB59-5FED-F212-7215-A40D97058D5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33137" y="1733958"/>
            <a:ext cx="1122465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Hypergraph models provide superior representation of high-order relationships in supply chains compared to traditional graphs, enabling better modelling of joint dependencies and cascading disruptions.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Multi-Objective Optimization (MOO) improves decision-making by identifying Pareto-optimal trade-offs, offering more accurate and diverse solutions than single-objective approaches.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Temporal and heterogeneous GNN models (like HT-HGNN) effectively capture dynamic, multi-type relationships and time-dependent behaviors in complex networks.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Techniques such as LSTM, attention mechanisms, and SHAP enhance prediction accuracy and interpretability, enabling better understanding of risk propagation and model outputs. </a:t>
            </a:r>
          </a:p>
        </p:txBody>
      </p:sp>
    </p:spTree>
    <p:extLst>
      <p:ext uri="{BB962C8B-B14F-4D97-AF65-F5344CB8AC3E}">
        <p14:creationId xmlns:p14="http://schemas.microsoft.com/office/powerpoint/2010/main" val="4127597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 bwMode="gray">
          <a:xfrm>
            <a:off x="109807" y="59014"/>
            <a:ext cx="7857597" cy="9546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l" defTabSz="1042988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1042988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defTabSz="1042988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defTabSz="1042988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defTabSz="1042988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defTabSz="1042988" rtl="0" fontAlgn="base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defTabSz="1042988" rtl="0" fontAlgn="base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defTabSz="1042988" rtl="0" fontAlgn="base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defTabSz="1042988" rtl="0" fontAlgn="base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defTabSz="914400" eaLnBrk="1" fontAlgn="auto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3200" b="0" kern="1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Gaps in the Literature</a:t>
            </a: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F9661D63-0C3B-FDF6-A4F2-DC579BF99F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CD00CD-B19F-EA28-0901-9C65F27EE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9</a:t>
            </a:fld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B7A3DA-5BFE-7A3C-3A04-72C4680788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9381" y="1726853"/>
            <a:ext cx="1151323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Existing hypergraph and GNN models largely focus on static and homogeneous networks, failing to capture real-world dynamic and evolving supply chain structures.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Most studies are built on general-purpose knowledge graphs, with limited domain-specific application to supply chain risk prediction.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Prior research primarily addresses single-objective problems (e.g., demand forecasting or disruption classification) rather than integrated multi-objective prediction.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No existing work integrates cascade risk modelling directly into training (e.g., via KL divergence with cascade simulations), limiting accurate learning of disruption propagation. </a:t>
            </a:r>
          </a:p>
        </p:txBody>
      </p:sp>
    </p:spTree>
    <p:extLst>
      <p:ext uri="{BB962C8B-B14F-4D97-AF65-F5344CB8AC3E}">
        <p14:creationId xmlns:p14="http://schemas.microsoft.com/office/powerpoint/2010/main" val="3925694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7176"/>
            <a:ext cx="9895951" cy="1033669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FFFF"/>
                </a:solidFill>
                <a:latin typeface="Cambria" panose="02040503050406030204" pitchFamily="18" charset="0"/>
              </a:rPr>
              <a:t>Objectives</a:t>
            </a:r>
            <a:endParaRPr lang="en-IN" sz="4000" dirty="0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40C23DFE-E8D6-EB69-3191-B2F7ACC906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087AE-52F0-D9AF-7C05-546BE8E46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10</a:t>
            </a:fld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F4295B1-A162-5724-FF28-6E8106365F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9350" y="1878468"/>
            <a:ext cx="1146619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Develop a hypergraph-based modelling framework (HT-HGNN) to better capture complex, multi-entity relationships in supply chains.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Incorporate temporal dynamics and heterogeneous data inputs to enable real-time prediction of node criticality and risk propagation.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Implement multi-objective optimization to simultaneously predict multiple outcomes such as price, disruption risk, criticality, and cascade probability.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Validate the proposed model using a real-world case study (airplane operations) to demonstrate accuracy and practical applicability.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941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59">
            <a:extLst>
              <a:ext uri="{FF2B5EF4-FFF2-40B4-BE49-F238E27FC236}">
                <a16:creationId xmlns:a16="http://schemas.microsoft.com/office/drawing/2014/main" id="{87F69500-79A9-2CE0-C173-B7FF9B0DAC1C}"/>
              </a:ext>
            </a:extLst>
          </p:cNvPr>
          <p:cNvSpPr/>
          <p:nvPr/>
        </p:nvSpPr>
        <p:spPr>
          <a:xfrm>
            <a:off x="8696960" y="3176138"/>
            <a:ext cx="3291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5" name="Shape 18">
            <a:extLst>
              <a:ext uri="{FF2B5EF4-FFF2-40B4-BE49-F238E27FC236}">
                <a16:creationId xmlns:a16="http://schemas.microsoft.com/office/drawing/2014/main" id="{E974B93B-8E43-8456-DEC6-B81513BF7021}"/>
              </a:ext>
            </a:extLst>
          </p:cNvPr>
          <p:cNvSpPr/>
          <p:nvPr/>
        </p:nvSpPr>
        <p:spPr>
          <a:xfrm>
            <a:off x="4429760" y="3205934"/>
            <a:ext cx="344601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3" name="Shape 18">
            <a:extLst>
              <a:ext uri="{FF2B5EF4-FFF2-40B4-BE49-F238E27FC236}">
                <a16:creationId xmlns:a16="http://schemas.microsoft.com/office/drawing/2014/main" id="{4144563E-A781-2750-B726-C9B7E4088530}"/>
              </a:ext>
            </a:extLst>
          </p:cNvPr>
          <p:cNvSpPr/>
          <p:nvPr/>
        </p:nvSpPr>
        <p:spPr>
          <a:xfrm>
            <a:off x="774192" y="4314952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" name="Shape 0"/>
          <p:cNvSpPr/>
          <p:nvPr/>
        </p:nvSpPr>
        <p:spPr>
          <a:xfrm>
            <a:off x="3048" y="-11255"/>
            <a:ext cx="12188952" cy="15910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110728" y="0"/>
            <a:ext cx="4078224" cy="1582441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265176"/>
            <a:ext cx="483800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-120"/>
              </a:rPr>
              <a:t>Overall System Architecture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" y="329184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008" y="4864608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261872" y="630488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74192" y="2568448"/>
            <a:ext cx="2834640" cy="2377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774192" y="256844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Interface Layer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74192" y="2842768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774192" y="2897632"/>
            <a:ext cx="54864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902208" y="28976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User / Analyst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02208" y="3166100"/>
            <a:ext cx="265176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Browser interface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2191512" y="3464560"/>
            <a:ext cx="0" cy="10972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774192" y="3574288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774192" y="3629152"/>
            <a:ext cx="54864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902208" y="36291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React Frontend (Port 5173)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02208" y="3897620"/>
            <a:ext cx="265176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Upload CSV · Select dataset · View dashboard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2191512" y="4196080"/>
            <a:ext cx="0" cy="10972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902208" y="4350279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FastAPI Backend (Port 8000)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902208" y="4618747"/>
            <a:ext cx="265176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/predict  /explain  /simulate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4429760" y="2189070"/>
            <a:ext cx="3446018" cy="2377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429760" y="2196886"/>
            <a:ext cx="33250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ML Engine</a:t>
            </a:r>
          </a:p>
        </p:txBody>
      </p:sp>
      <p:sp>
        <p:nvSpPr>
          <p:cNvPr id="32" name="Shape 29"/>
          <p:cNvSpPr/>
          <p:nvPr/>
        </p:nvSpPr>
        <p:spPr>
          <a:xfrm>
            <a:off x="4429760" y="2477008"/>
            <a:ext cx="344601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4429760" y="2531872"/>
            <a:ext cx="54864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557776" y="25318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Hypergraph Construction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4557776" y="2800340"/>
            <a:ext cx="347472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Nodes · Hyperedges · Temporal structure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6089905" y="3094326"/>
            <a:ext cx="0" cy="10505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557776" y="32633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Spectral Hypergraph Conv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4557776" y="3531860"/>
            <a:ext cx="347472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3 layers · hidden=256 · residual · intra-HE attn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6106160" y="3830320"/>
            <a:ext cx="0" cy="10972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4429760" y="3940048"/>
            <a:ext cx="3446017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4429760" y="3994912"/>
            <a:ext cx="54864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4557776" y="399491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Temporal Fusion Encoder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4557776" y="4263380"/>
            <a:ext cx="347472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Bi-LSTM (2×128) + Transformer (4 heads)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6121400" y="4561840"/>
            <a:ext cx="0" cy="10972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4429760" y="4671568"/>
            <a:ext cx="3446016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4429760" y="4726432"/>
            <a:ext cx="54864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4557776" y="472643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Heterogeneous Relation Attention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4557776" y="4994900"/>
            <a:ext cx="347472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5 type-specific W_r matrices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8696960" y="2182368"/>
            <a:ext cx="3291840" cy="2377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8696960" y="218236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Prediction Outputs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8696960" y="2456688"/>
            <a:ext cx="3291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8696960" y="2511552"/>
            <a:ext cx="54864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8824976" y="25115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Price / Delay Prediction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8824976" y="2780020"/>
            <a:ext cx="310896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Regression head · MAE loss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10342880" y="3078480"/>
            <a:ext cx="0" cy="10972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8824976" y="32430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Disruption Detection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8824976" y="3511540"/>
            <a:ext cx="310896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Binary · BCE loss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10342880" y="3810000"/>
            <a:ext cx="0" cy="10972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2" name="Shape 59"/>
          <p:cNvSpPr/>
          <p:nvPr/>
        </p:nvSpPr>
        <p:spPr>
          <a:xfrm>
            <a:off x="8696960" y="3919728"/>
            <a:ext cx="3291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3" name="Shape 60"/>
          <p:cNvSpPr/>
          <p:nvPr/>
        </p:nvSpPr>
        <p:spPr>
          <a:xfrm>
            <a:off x="8696960" y="3974592"/>
            <a:ext cx="54864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8824976" y="39745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Criticality Classification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8824976" y="4243060"/>
            <a:ext cx="310896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4-class · Cross-entropy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10342880" y="4541520"/>
            <a:ext cx="0" cy="10972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7" name="Shape 64"/>
          <p:cNvSpPr/>
          <p:nvPr/>
        </p:nvSpPr>
        <p:spPr>
          <a:xfrm>
            <a:off x="8696960" y="4651248"/>
            <a:ext cx="3291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8" name="Shape 65"/>
          <p:cNvSpPr/>
          <p:nvPr/>
        </p:nvSpPr>
        <p:spPr>
          <a:xfrm>
            <a:off x="8696960" y="4706112"/>
            <a:ext cx="54864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8824976" y="47061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Cascade Risk Score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8824976" y="4974580"/>
            <a:ext cx="310896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KL-divergence · HIC target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2" name="Picture 71" descr="Logo&#10;&#10;Description automatically generated">
            <a:extLst>
              <a:ext uri="{FF2B5EF4-FFF2-40B4-BE49-F238E27FC236}">
                <a16:creationId xmlns:a16="http://schemas.microsoft.com/office/drawing/2014/main" id="{E3F41488-06CF-FCBF-7377-C40800005D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Shape 19">
            <a:extLst>
              <a:ext uri="{FF2B5EF4-FFF2-40B4-BE49-F238E27FC236}">
                <a16:creationId xmlns:a16="http://schemas.microsoft.com/office/drawing/2014/main" id="{11B83E14-1784-874E-76E9-BD5F3B295B5A}"/>
              </a:ext>
            </a:extLst>
          </p:cNvPr>
          <p:cNvSpPr/>
          <p:nvPr/>
        </p:nvSpPr>
        <p:spPr>
          <a:xfrm>
            <a:off x="765048" y="4367836"/>
            <a:ext cx="54864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30">
            <a:extLst>
              <a:ext uri="{FF2B5EF4-FFF2-40B4-BE49-F238E27FC236}">
                <a16:creationId xmlns:a16="http://schemas.microsoft.com/office/drawing/2014/main" id="{CDA28046-547F-52C1-BA56-9052B8870395}"/>
              </a:ext>
            </a:extLst>
          </p:cNvPr>
          <p:cNvSpPr/>
          <p:nvPr/>
        </p:nvSpPr>
        <p:spPr>
          <a:xfrm>
            <a:off x="4438142" y="3256485"/>
            <a:ext cx="46482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9" name="Arrow: Right 78">
            <a:extLst>
              <a:ext uri="{FF2B5EF4-FFF2-40B4-BE49-F238E27FC236}">
                <a16:creationId xmlns:a16="http://schemas.microsoft.com/office/drawing/2014/main" id="{4AF718B4-D651-5137-F059-9CAEB2A42F57}"/>
              </a:ext>
            </a:extLst>
          </p:cNvPr>
          <p:cNvSpPr/>
          <p:nvPr/>
        </p:nvSpPr>
        <p:spPr>
          <a:xfrm>
            <a:off x="16637" y="3547797"/>
            <a:ext cx="697484" cy="662672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80" name="Arrow: Right 79">
            <a:extLst>
              <a:ext uri="{FF2B5EF4-FFF2-40B4-BE49-F238E27FC236}">
                <a16:creationId xmlns:a16="http://schemas.microsoft.com/office/drawing/2014/main" id="{8E20CEC5-DC62-1C78-4AEB-D3D4D580EA51}"/>
              </a:ext>
            </a:extLst>
          </p:cNvPr>
          <p:cNvSpPr/>
          <p:nvPr/>
        </p:nvSpPr>
        <p:spPr>
          <a:xfrm>
            <a:off x="3665347" y="3550431"/>
            <a:ext cx="697484" cy="662672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82" name="Shape 51">
            <a:extLst>
              <a:ext uri="{FF2B5EF4-FFF2-40B4-BE49-F238E27FC236}">
                <a16:creationId xmlns:a16="http://schemas.microsoft.com/office/drawing/2014/main" id="{FBAB042D-FB6A-D9F8-880D-5D49E2C5FAD3}"/>
              </a:ext>
            </a:extLst>
          </p:cNvPr>
          <p:cNvSpPr/>
          <p:nvPr/>
        </p:nvSpPr>
        <p:spPr>
          <a:xfrm>
            <a:off x="8696960" y="3227797"/>
            <a:ext cx="54864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3" name="Arrow: Right 82">
            <a:extLst>
              <a:ext uri="{FF2B5EF4-FFF2-40B4-BE49-F238E27FC236}">
                <a16:creationId xmlns:a16="http://schemas.microsoft.com/office/drawing/2014/main" id="{8D0B07B0-A9EF-B5F9-2B09-75D6265376FD}"/>
              </a:ext>
            </a:extLst>
          </p:cNvPr>
          <p:cNvSpPr/>
          <p:nvPr/>
        </p:nvSpPr>
        <p:spPr>
          <a:xfrm>
            <a:off x="7968362" y="3547797"/>
            <a:ext cx="697484" cy="662672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15">
            <a:extLst>
              <a:ext uri="{FF2B5EF4-FFF2-40B4-BE49-F238E27FC236}">
                <a16:creationId xmlns:a16="http://schemas.microsoft.com/office/drawing/2014/main" id="{A917E6C6-C0A7-B346-919D-610F3FD4F727}"/>
              </a:ext>
            </a:extLst>
          </p:cNvPr>
          <p:cNvSpPr/>
          <p:nvPr/>
        </p:nvSpPr>
        <p:spPr>
          <a:xfrm>
            <a:off x="6282952" y="4153357"/>
            <a:ext cx="4465827" cy="72201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15">
            <a:extLst>
              <a:ext uri="{FF2B5EF4-FFF2-40B4-BE49-F238E27FC236}">
                <a16:creationId xmlns:a16="http://schemas.microsoft.com/office/drawing/2014/main" id="{2D05CC56-093F-EC00-1768-157DEB6E77D2}"/>
              </a:ext>
            </a:extLst>
          </p:cNvPr>
          <p:cNvSpPr/>
          <p:nvPr/>
        </p:nvSpPr>
        <p:spPr>
          <a:xfrm>
            <a:off x="6292595" y="2982386"/>
            <a:ext cx="4465827" cy="72201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15">
            <a:extLst>
              <a:ext uri="{FF2B5EF4-FFF2-40B4-BE49-F238E27FC236}">
                <a16:creationId xmlns:a16="http://schemas.microsoft.com/office/drawing/2014/main" id="{A11DA236-2812-11D2-49DE-D5667E70D5BD}"/>
              </a:ext>
            </a:extLst>
          </p:cNvPr>
          <p:cNvSpPr/>
          <p:nvPr/>
        </p:nvSpPr>
        <p:spPr>
          <a:xfrm>
            <a:off x="6292596" y="1977136"/>
            <a:ext cx="4465827" cy="72201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88952" cy="15910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110728" y="0"/>
            <a:ext cx="4078224" cy="1591056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12776" y="297180"/>
            <a:ext cx="5080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-120"/>
              </a:rPr>
              <a:t>ML Prediction Pipeline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7192" y="1702816"/>
            <a:ext cx="4465828" cy="2377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47192" y="170281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Stage A - Data &amp; Graph Construction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47192" y="1977136"/>
            <a:ext cx="4465827" cy="72201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643382" y="2038370"/>
            <a:ext cx="54864" cy="6058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775208" y="2032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Raw CSV / Dataset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75208" y="2376546"/>
            <a:ext cx="4572000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DataCo · BOM Automotive · IndiGo · Global Port · Mfg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495288" y="201777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DataAdapter — Standardisation Layer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495288" y="2362322"/>
            <a:ext cx="4572000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Normalisation · Encoding · Time alignment · Missing value imputation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439408" y="2990190"/>
            <a:ext cx="45720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Hypergraph Construction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439408" y="3337808"/>
            <a:ext cx="4572000" cy="35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Nodes (entities) · Hyperedges (group relations) · Temporal snapshots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642112" y="2984713"/>
            <a:ext cx="4465826" cy="7244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770128" y="3051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Spectral Hypergraph Convolution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770128" y="3395594"/>
            <a:ext cx="4572000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Multi-party feature propagation · 3 layers · intra-hyperedge attention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658368" y="3877056"/>
            <a:ext cx="4449570" cy="2377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658368" y="387705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Stage B · Neural Processing &amp; Output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658368" y="4179072"/>
            <a:ext cx="4465826" cy="712704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755904" y="4206240"/>
            <a:ext cx="3624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Temporal Fusion Encoder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748284" y="4550786"/>
            <a:ext cx="4572000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Bi-LSTM (2×128) + Transformer (4 heads, d=256) · 24-hr rolling window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6362393" y="4202013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Heterogeneous Relation Attention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6385543" y="4488689"/>
            <a:ext cx="4572000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5 type-specific attention matrices · softmax fusion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8887968" y="5040641"/>
            <a:ext cx="0" cy="13716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6292595" y="5061429"/>
            <a:ext cx="4465826" cy="725267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6297168" y="5090425"/>
            <a:ext cx="54864" cy="65836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6390459" y="5090425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Shared Node Embedding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6390459" y="5434971"/>
            <a:ext cx="4572000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Unified representation across all tasks · d=256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642110" y="5070912"/>
            <a:ext cx="4465828" cy="72201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736512" y="50676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Multi-Task Prediction Heads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736512" y="5412202"/>
            <a:ext cx="4572000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Price · Disruption · Criticality · Cascade Risk — simultaneous output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8" name="Picture 57" descr="Logo&#10;&#10;Description automatically generated">
            <a:extLst>
              <a:ext uri="{FF2B5EF4-FFF2-40B4-BE49-F238E27FC236}">
                <a16:creationId xmlns:a16="http://schemas.microsoft.com/office/drawing/2014/main" id="{5AE5B62F-C53D-C8D1-7760-61B8BD74B7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Shape 16">
            <a:extLst>
              <a:ext uri="{FF2B5EF4-FFF2-40B4-BE49-F238E27FC236}">
                <a16:creationId xmlns:a16="http://schemas.microsoft.com/office/drawing/2014/main" id="{C1FBEE24-ABC6-AFEF-8170-BD6A9D071ADA}"/>
              </a:ext>
            </a:extLst>
          </p:cNvPr>
          <p:cNvSpPr/>
          <p:nvPr/>
        </p:nvSpPr>
        <p:spPr>
          <a:xfrm>
            <a:off x="6303137" y="2036465"/>
            <a:ext cx="54864" cy="6058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16">
            <a:extLst>
              <a:ext uri="{FF2B5EF4-FFF2-40B4-BE49-F238E27FC236}">
                <a16:creationId xmlns:a16="http://schemas.microsoft.com/office/drawing/2014/main" id="{D9B979E3-8059-C28E-D5C0-B5729D31AEB7}"/>
              </a:ext>
            </a:extLst>
          </p:cNvPr>
          <p:cNvSpPr/>
          <p:nvPr/>
        </p:nvSpPr>
        <p:spPr>
          <a:xfrm>
            <a:off x="6301867" y="3042305"/>
            <a:ext cx="54864" cy="6058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9EBC49F6-7226-D942-24EE-0352ADE087E8}"/>
              </a:ext>
            </a:extLst>
          </p:cNvPr>
          <p:cNvSpPr/>
          <p:nvPr/>
        </p:nvSpPr>
        <p:spPr>
          <a:xfrm>
            <a:off x="647827" y="3048020"/>
            <a:ext cx="54864" cy="6058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16">
            <a:extLst>
              <a:ext uri="{FF2B5EF4-FFF2-40B4-BE49-F238E27FC236}">
                <a16:creationId xmlns:a16="http://schemas.microsoft.com/office/drawing/2014/main" id="{192CFF8A-3A82-07BF-EFEB-450121D8DF70}"/>
              </a:ext>
            </a:extLst>
          </p:cNvPr>
          <p:cNvSpPr/>
          <p:nvPr/>
        </p:nvSpPr>
        <p:spPr>
          <a:xfrm>
            <a:off x="647827" y="5123973"/>
            <a:ext cx="54864" cy="6058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16">
            <a:extLst>
              <a:ext uri="{FF2B5EF4-FFF2-40B4-BE49-F238E27FC236}">
                <a16:creationId xmlns:a16="http://schemas.microsoft.com/office/drawing/2014/main" id="{26696D35-C63E-A57A-25F9-F40FF1CC0930}"/>
              </a:ext>
            </a:extLst>
          </p:cNvPr>
          <p:cNvSpPr/>
          <p:nvPr/>
        </p:nvSpPr>
        <p:spPr>
          <a:xfrm>
            <a:off x="670687" y="4229120"/>
            <a:ext cx="54864" cy="6058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16">
            <a:extLst>
              <a:ext uri="{FF2B5EF4-FFF2-40B4-BE49-F238E27FC236}">
                <a16:creationId xmlns:a16="http://schemas.microsoft.com/office/drawing/2014/main" id="{31CFA5BD-EF5D-B699-206E-290991F3422F}"/>
              </a:ext>
            </a:extLst>
          </p:cNvPr>
          <p:cNvSpPr/>
          <p:nvPr/>
        </p:nvSpPr>
        <p:spPr>
          <a:xfrm>
            <a:off x="6288410" y="4205368"/>
            <a:ext cx="54864" cy="6058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F597A13-5783-3C16-5E28-3E79291DDB5C}"/>
              </a:ext>
            </a:extLst>
          </p:cNvPr>
          <p:cNvCxnSpPr>
            <a:stCxn id="18" idx="3"/>
            <a:endCxn id="60" idx="1"/>
          </p:cNvCxnSpPr>
          <p:nvPr/>
        </p:nvCxnSpPr>
        <p:spPr>
          <a:xfrm>
            <a:off x="5113019" y="2338141"/>
            <a:ext cx="1190118" cy="1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00D8C67-6AE3-FB96-F465-C5A92AD54115}"/>
              </a:ext>
            </a:extLst>
          </p:cNvPr>
          <p:cNvCxnSpPr>
            <a:stCxn id="59" idx="2"/>
            <a:endCxn id="61" idx="0"/>
          </p:cNvCxnSpPr>
          <p:nvPr/>
        </p:nvCxnSpPr>
        <p:spPr>
          <a:xfrm flipH="1">
            <a:off x="8525509" y="2699146"/>
            <a:ext cx="1" cy="283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14E08C1-2C34-4E57-2A7C-0DD90C9ABE11}"/>
              </a:ext>
            </a:extLst>
          </p:cNvPr>
          <p:cNvCxnSpPr>
            <a:stCxn id="62" idx="1"/>
          </p:cNvCxnSpPr>
          <p:nvPr/>
        </p:nvCxnSpPr>
        <p:spPr>
          <a:xfrm flipH="1" flipV="1">
            <a:off x="5124194" y="3337808"/>
            <a:ext cx="1177673" cy="7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124D0B9-0E8A-8E88-A68C-6F420814A70A}"/>
              </a:ext>
            </a:extLst>
          </p:cNvPr>
          <p:cNvCxnSpPr>
            <a:stCxn id="32" idx="2"/>
            <a:endCxn id="37" idx="0"/>
          </p:cNvCxnSpPr>
          <p:nvPr/>
        </p:nvCxnSpPr>
        <p:spPr>
          <a:xfrm>
            <a:off x="2875025" y="3709205"/>
            <a:ext cx="8128" cy="167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D94B8EF-568D-111B-E86C-BEC8AE6E8D10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5124194" y="4535424"/>
            <a:ext cx="11242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F0142FB-A801-BAB7-5522-84ED22C05498}"/>
              </a:ext>
            </a:extLst>
          </p:cNvPr>
          <p:cNvCxnSpPr>
            <a:cxnSpLocks/>
            <a:stCxn id="66" idx="2"/>
          </p:cNvCxnSpPr>
          <p:nvPr/>
        </p:nvCxnSpPr>
        <p:spPr>
          <a:xfrm>
            <a:off x="8515866" y="4875367"/>
            <a:ext cx="0" cy="165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719FFE8-2A8E-34F4-25CB-66BBAD0B951A}"/>
              </a:ext>
            </a:extLst>
          </p:cNvPr>
          <p:cNvCxnSpPr/>
          <p:nvPr/>
        </p:nvCxnSpPr>
        <p:spPr>
          <a:xfrm flipH="1">
            <a:off x="5192776" y="5434971"/>
            <a:ext cx="10556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68CE3C-1BAB-6AD6-42D1-8D326C24B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1B6904-EF63-345C-40AC-879594400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6D4E7B-F3D2-1191-DD45-8C174CB171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EC5F76-B3DF-669A-4375-4BC6A6E92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CFC882-AB11-F6AA-DF5D-4AAEF2611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AB0020-59D6-301C-9618-1E62B63E4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CF524A-CAFB-4B0A-6125-E4A304C06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176"/>
            <a:ext cx="9895951" cy="103366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Hypergraph Foundations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959CBCC-AEDB-7E47-4DE0-8623127B96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52B8E-C571-13B1-543D-9C5B9D401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02650"/>
            <a:ext cx="2743200" cy="365125"/>
          </a:xfrm>
        </p:spPr>
        <p:txBody>
          <a:bodyPr/>
          <a:lstStyle/>
          <a:p>
            <a:fld id="{87ACCF74-76A4-4B7C-AE89-E33624618226}" type="slidenum">
              <a:rPr lang="en-IN" smtClean="0"/>
              <a:t>13</a:t>
            </a:fld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211CD44-F65D-02F8-868E-6E082CC931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962435"/>
              </p:ext>
            </p:extLst>
          </p:nvPr>
        </p:nvGraphicFramePr>
        <p:xfrm>
          <a:off x="838199" y="1597432"/>
          <a:ext cx="10515597" cy="5044774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06627229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18364412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950596802"/>
                    </a:ext>
                  </a:extLst>
                </a:gridCol>
              </a:tblGrid>
              <a:tr h="693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H = (V, ℰ, W)</a:t>
                      </a:r>
                      <a:endParaRPr lang="en-US" sz="1800" dirty="0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B ∈ {0,1}ⁿˣᵐ</a:t>
                      </a:r>
                      <a:endParaRPr lang="en-US" sz="1800" dirty="0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Dᵥ &amp; D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e</a:t>
                      </a:r>
                      <a:endParaRPr lang="en-US" sz="1800" baseline="-25000" dirty="0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409457"/>
                  </a:ext>
                </a:extLst>
              </a:tr>
              <a:tr h="69358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Hypergraph</a:t>
                      </a:r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Incidence Matrix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Degree Matrices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96735413"/>
                  </a:ext>
                </a:extLst>
              </a:tr>
              <a:tr h="693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V = {v₁…vₙ}  →  n vertices (supply chain nodes)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B[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i,j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] = 1  if vertex vᵢ ∈ hyperedge eⱼ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Dᵥ[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i,i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] = Σⱼ B[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i,j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]  →  hyperedges per vertex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54774500"/>
                  </a:ext>
                </a:extLst>
              </a:tr>
              <a:tr h="693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ℰ = {e₁…eₘ}  →  m hyperedges (assembly groups)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B[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i,j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] = 0  otherwise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D_e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[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j,j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] = Σᵢ B[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i,j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]  →  vertices per hyperedge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789042509"/>
                  </a:ext>
                </a:extLst>
              </a:tr>
              <a:tr h="693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W =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diag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(w₁…wₘ)  →  hyperedge weight matrix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Complete structural encoding in one matrix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Both are diagonal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normalisation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 matrices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86338916"/>
                  </a:ext>
                </a:extLst>
              </a:tr>
              <a:tr h="693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Model scale: n = 1,206 nodes, m = 36 hyperedges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Dimensions: 1,206 × 36 binary matrix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Prevent high-degree nodes from dominating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50172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8206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24">
            <a:extLst>
              <a:ext uri="{FF2B5EF4-FFF2-40B4-BE49-F238E27FC236}">
                <a16:creationId xmlns:a16="http://schemas.microsoft.com/office/drawing/2014/main" id="{4E59869D-4ECC-02C6-2BA6-EFD1516A44A6}"/>
              </a:ext>
            </a:extLst>
          </p:cNvPr>
          <p:cNvSpPr/>
          <p:nvPr/>
        </p:nvSpPr>
        <p:spPr>
          <a:xfrm>
            <a:off x="129755" y="5229292"/>
            <a:ext cx="4206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Shape 15">
            <a:extLst>
              <a:ext uri="{FF2B5EF4-FFF2-40B4-BE49-F238E27FC236}">
                <a16:creationId xmlns:a16="http://schemas.microsoft.com/office/drawing/2014/main" id="{7B16CB4E-12C3-7135-3130-3157F1662D06}"/>
              </a:ext>
            </a:extLst>
          </p:cNvPr>
          <p:cNvSpPr/>
          <p:nvPr/>
        </p:nvSpPr>
        <p:spPr>
          <a:xfrm>
            <a:off x="129754" y="3095610"/>
            <a:ext cx="4206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88952" cy="15910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110728" y="0"/>
            <a:ext cx="4078224" cy="1591056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265176"/>
            <a:ext cx="542979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-120"/>
              </a:rPr>
              <a:t>Hypergraph Construction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" y="2962656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-120"/>
              </a:rPr>
              <a:t>2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4008" y="420624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-120"/>
              </a:rPr>
              <a:t>3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4008" y="5449824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118871" y="1776113"/>
            <a:ext cx="4206240" cy="2377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8871" y="1776113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Construction Pipeline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118871" y="2050433"/>
            <a:ext cx="4206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118871" y="2105297"/>
            <a:ext cx="54864" cy="6217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46887" y="2105297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Supply Chain Dataset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46887" y="2430823"/>
            <a:ext cx="402336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Raw records with entity attributes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246887" y="3150033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Entity Identification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246887" y="3475559"/>
            <a:ext cx="402336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Supplier · Manufacturer · Logistics · Retail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130446" y="4151474"/>
            <a:ext cx="4206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130446" y="4206338"/>
            <a:ext cx="54864" cy="6217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258462" y="420633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Node Creation  (d=12 features)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258462" y="4531864"/>
            <a:ext cx="402336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Each entity → node  ·  5 relation types extracted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46887" y="5251065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Hyperedge Formation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246887" y="5576591"/>
            <a:ext cx="402336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Multiple nodes in one hyperedge · T=24 temporal snapshots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5033554" y="1710796"/>
            <a:ext cx="57607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5033554" y="1710796"/>
            <a:ext cx="5760720" cy="457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5170714" y="1783948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-120"/>
              </a:rPr>
              <a:t>Traditional Graph — pairwise only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5143282" y="2149708"/>
            <a:ext cx="5541264" cy="0"/>
          </a:xfrm>
          <a:prstGeom prst="line">
            <a:avLst/>
          </a:prstGeom>
          <a:noFill/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5399314" y="2369164"/>
            <a:ext cx="1463040" cy="475488"/>
          </a:xfrm>
          <a:prstGeom prst="ellipse">
            <a:avLst/>
          </a:prstGeom>
          <a:solidFill>
            <a:srgbClr val="F2F2F2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5399314" y="236916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Supplier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7045234" y="2369164"/>
            <a:ext cx="1463040" cy="475488"/>
          </a:xfrm>
          <a:prstGeom prst="ellipse">
            <a:avLst/>
          </a:prstGeom>
          <a:solidFill>
            <a:srgbClr val="F2F2F2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7045234" y="236916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Manufacturer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8691154" y="2369164"/>
            <a:ext cx="1463040" cy="475488"/>
          </a:xfrm>
          <a:prstGeom prst="ellipse">
            <a:avLst/>
          </a:prstGeom>
          <a:solidFill>
            <a:srgbClr val="F2F2F2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8691154" y="236916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Distributor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6862354" y="2606908"/>
            <a:ext cx="18288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8508274" y="2606908"/>
            <a:ext cx="18288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5170714" y="297266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One edge = one pairwise link.  Risk propagates linearly only.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5033554" y="3795628"/>
            <a:ext cx="5760720" cy="2148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5170714" y="3868780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-120"/>
              </a:rPr>
              <a:t>Hypergraph — group dependencies captured  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5166356" y="4245860"/>
            <a:ext cx="5120640" cy="640080"/>
          </a:xfrm>
          <a:prstGeom prst="ellipse">
            <a:avLst/>
          </a:prstGeom>
          <a:solidFill>
            <a:srgbClr val="2E5496">
              <a:alpha val="50000"/>
            </a:srgbClr>
          </a:solidFill>
          <a:ln w="12700">
            <a:solidFill>
              <a:srgbClr val="AACCFF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9502134" y="4507124"/>
            <a:ext cx="10972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CC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Hyperedge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5445034" y="4344268"/>
            <a:ext cx="141732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5445034" y="434426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Supplier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6953794" y="4344268"/>
            <a:ext cx="141732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6953794" y="434426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Manufacturer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8462554" y="4344268"/>
            <a:ext cx="141732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8462554" y="434426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Logistics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5170714" y="5002636"/>
            <a:ext cx="5532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One hyperedge binds Supplier + Manufacturer + Logistics simultaneously.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CDD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Disruption in any one propagates to ALL members at once.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0" name="Picture 59" descr="Logo&#10;&#10;Description automatically generated">
            <a:extLst>
              <a:ext uri="{FF2B5EF4-FFF2-40B4-BE49-F238E27FC236}">
                <a16:creationId xmlns:a16="http://schemas.microsoft.com/office/drawing/2014/main" id="{4FD8958C-6755-3D54-260A-30CC9080DA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Shape 16">
            <a:extLst>
              <a:ext uri="{FF2B5EF4-FFF2-40B4-BE49-F238E27FC236}">
                <a16:creationId xmlns:a16="http://schemas.microsoft.com/office/drawing/2014/main" id="{47207A85-C2F7-132F-CB1A-865E5DFA8105}"/>
              </a:ext>
            </a:extLst>
          </p:cNvPr>
          <p:cNvSpPr/>
          <p:nvPr/>
        </p:nvSpPr>
        <p:spPr>
          <a:xfrm>
            <a:off x="140640" y="3150464"/>
            <a:ext cx="54864" cy="6217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4" name="Shape 25">
            <a:extLst>
              <a:ext uri="{FF2B5EF4-FFF2-40B4-BE49-F238E27FC236}">
                <a16:creationId xmlns:a16="http://schemas.microsoft.com/office/drawing/2014/main" id="{25C58D62-1D84-A480-5763-0731343C11AA}"/>
              </a:ext>
            </a:extLst>
          </p:cNvPr>
          <p:cNvSpPr/>
          <p:nvPr/>
        </p:nvSpPr>
        <p:spPr>
          <a:xfrm>
            <a:off x="140641" y="5284159"/>
            <a:ext cx="54864" cy="6217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C377023-9CF5-18B5-A826-ABA43AE9E4E0}"/>
              </a:ext>
            </a:extLst>
          </p:cNvPr>
          <p:cNvCxnSpPr>
            <a:cxnSpLocks/>
          </p:cNvCxnSpPr>
          <p:nvPr/>
        </p:nvCxnSpPr>
        <p:spPr>
          <a:xfrm>
            <a:off x="2216911" y="2781953"/>
            <a:ext cx="0" cy="245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E366950-7B39-2A1B-3318-D372E79985FF}"/>
              </a:ext>
            </a:extLst>
          </p:cNvPr>
          <p:cNvCxnSpPr>
            <a:cxnSpLocks/>
          </p:cNvCxnSpPr>
          <p:nvPr/>
        </p:nvCxnSpPr>
        <p:spPr>
          <a:xfrm>
            <a:off x="2201671" y="3833513"/>
            <a:ext cx="0" cy="245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492A8E0-87FD-3581-573C-6989DF11C466}"/>
              </a:ext>
            </a:extLst>
          </p:cNvPr>
          <p:cNvCxnSpPr>
            <a:cxnSpLocks/>
          </p:cNvCxnSpPr>
          <p:nvPr/>
        </p:nvCxnSpPr>
        <p:spPr>
          <a:xfrm>
            <a:off x="2178811" y="4885073"/>
            <a:ext cx="0" cy="245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AEA947-5B22-F925-CEAC-AC1CDA227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7B354F8-0451-C736-82F3-74A48E113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46AA4A-905D-36FE-17C2-6D47B1883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8EEFFE-FA6D-718F-9BAB-511CF2458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694831-50FE-8212-7668-D0D2422A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089D89-E6FE-BB41-8361-8B0C8DD88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C7680C-718E-EEBD-269A-38C10482E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176"/>
            <a:ext cx="9895951" cy="103366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Hypergraph Convolution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DB133DA9-7BEC-F446-2056-F10C88C071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FF701-C0C0-F7EA-2101-B1482D636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02650"/>
            <a:ext cx="2743200" cy="365125"/>
          </a:xfrm>
        </p:spPr>
        <p:txBody>
          <a:bodyPr/>
          <a:lstStyle/>
          <a:p>
            <a:fld id="{87ACCF74-76A4-4B7C-AE89-E33624618226}" type="slidenum">
              <a:rPr lang="en-IN" smtClean="0"/>
              <a:t>15</a:t>
            </a:fld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C6D949-05BF-D091-2173-F5400EF37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4594"/>
            <a:ext cx="10515600" cy="435133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2439DC-7BCC-81A3-A383-8A89799A1C36}"/>
              </a:ext>
            </a:extLst>
          </p:cNvPr>
          <p:cNvSpPr/>
          <p:nvPr/>
        </p:nvSpPr>
        <p:spPr>
          <a:xfrm>
            <a:off x="472816" y="2841122"/>
            <a:ext cx="4887686" cy="2362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onsolas" pitchFamily="34" charset="-120"/>
            </a:endParaRPr>
          </a:p>
          <a:p>
            <a:pPr algn="ctr"/>
            <a:endParaRPr lang="en-US" sz="16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onsolas" pitchFamily="34" charset="-120"/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M = D_e⁻¹ · Bᵀ · X · Θ_v2e</a:t>
            </a:r>
          </a:p>
          <a:p>
            <a:pPr algn="ctr"/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 ∈ </a:t>
            </a:r>
            <a:r>
              <a:rPr lang="en-US" sz="14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ℝᵐˣ</a:t>
            </a: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ᵈ - </a:t>
            </a: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hyperedge embedding matrix (d = 64)
</a:t>
            </a: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Θ_v2e ∈ </a:t>
            </a:r>
            <a:r>
              <a:rPr lang="en-US" sz="14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ℝᶠˣ</a:t>
            </a: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ᵈ -</a:t>
            </a: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learnable weight matrix
</a:t>
            </a: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Intuition: </a:t>
            </a: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Each hyperedge "</a:t>
            </a:r>
            <a:r>
              <a:rPr lang="en-US" sz="14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summarises</a:t>
            </a: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" its member nodes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AC9614-B1BD-5B40-FBB3-CF3C1D8A1617}"/>
              </a:ext>
            </a:extLst>
          </p:cNvPr>
          <p:cNvSpPr/>
          <p:nvPr/>
        </p:nvSpPr>
        <p:spPr>
          <a:xfrm>
            <a:off x="472816" y="2831230"/>
            <a:ext cx="4887686" cy="35922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STAGE 1 — Vertex → Edge Aggregation</a:t>
            </a:r>
            <a:endParaRPr lang="en-US" sz="1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310ECB-C1C8-3BE3-27E8-39B89AC5B6D0}"/>
              </a:ext>
            </a:extLst>
          </p:cNvPr>
          <p:cNvSpPr/>
          <p:nvPr/>
        </p:nvSpPr>
        <p:spPr>
          <a:xfrm>
            <a:off x="6688072" y="2834497"/>
            <a:ext cx="4887686" cy="2362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onsolas" pitchFamily="34" charset="-120"/>
            </a:endParaRPr>
          </a:p>
          <a:p>
            <a:pPr algn="ctr"/>
            <a:endParaRPr lang="en-US" sz="16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onsolas" pitchFamily="34" charset="-120"/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X' = Dᵥ⁻¹ · B · W · M · Θ_e2v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X' ∈ ℝⁿˣᵈ </a:t>
            </a: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— updated node embeddings
</a:t>
            </a: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Θ_e2v ∈ </a:t>
            </a:r>
            <a:r>
              <a:rPr lang="en-US" sz="14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ℝᵈˣ</a:t>
            </a: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ᵈ </a:t>
            </a: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— edge-to-vertex weight matrix
</a:t>
            </a: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Intuition: </a:t>
            </a: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Each node absorbs context from all groups it joins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F4AE25-2480-15BB-CBEA-A281FE0FEFE0}"/>
              </a:ext>
            </a:extLst>
          </p:cNvPr>
          <p:cNvSpPr/>
          <p:nvPr/>
        </p:nvSpPr>
        <p:spPr>
          <a:xfrm>
            <a:off x="6688072" y="2824605"/>
            <a:ext cx="4887686" cy="35922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STAGE 2 — Edge → Vertex Message Passing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E94205A-D72A-5B59-FFE8-BA28A86A4693}"/>
              </a:ext>
            </a:extLst>
          </p:cNvPr>
          <p:cNvCxnSpPr>
            <a:endCxn id="9" idx="1"/>
          </p:cNvCxnSpPr>
          <p:nvPr/>
        </p:nvCxnSpPr>
        <p:spPr>
          <a:xfrm flipV="1">
            <a:off x="5360502" y="4015597"/>
            <a:ext cx="1327570" cy="6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FB861C9-B321-9EB7-C746-B774FD7A6A79}"/>
              </a:ext>
            </a:extLst>
          </p:cNvPr>
          <p:cNvSpPr/>
          <p:nvPr/>
        </p:nvSpPr>
        <p:spPr>
          <a:xfrm>
            <a:off x="472816" y="5416824"/>
            <a:ext cx="11102942" cy="8595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Full Layer Formula: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X⁽ˡ⁺¹⁾ = σ( Dᵥ⁻½ · B · W · D_e⁻¹ · Bᵀ · Dᵥ⁻½ · </a:t>
            </a:r>
            <a:r>
              <a:rPr lang="en-US" sz="16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X⁽ˡ</a:t>
            </a: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⁾ · </a:t>
            </a:r>
            <a:r>
              <a:rPr lang="en-US" sz="16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Θ⁽ˡ</a:t>
            </a: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⁾ )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7ACE80-0438-4149-F6C5-4907EBBB6313}"/>
              </a:ext>
            </a:extLst>
          </p:cNvPr>
          <p:cNvSpPr/>
          <p:nvPr/>
        </p:nvSpPr>
        <p:spPr>
          <a:xfrm>
            <a:off x="472816" y="1857917"/>
            <a:ext cx="3426850" cy="7231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Layer 1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Immediate assembly-level interactions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AF48F1-57C3-F3A0-D4EA-50179BA3A3B8}"/>
              </a:ext>
            </a:extLst>
          </p:cNvPr>
          <p:cNvSpPr/>
          <p:nvPr/>
        </p:nvSpPr>
        <p:spPr>
          <a:xfrm>
            <a:off x="4382200" y="1851292"/>
            <a:ext cx="3426850" cy="7231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Layer 2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Second-order (assemblies of assemblies)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30B0539-A329-2F17-ADBE-7EB542DC81FA}"/>
              </a:ext>
            </a:extLst>
          </p:cNvPr>
          <p:cNvSpPr/>
          <p:nvPr/>
        </p:nvSpPr>
        <p:spPr>
          <a:xfrm>
            <a:off x="8132557" y="1854607"/>
            <a:ext cx="3426850" cy="7231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Layer 3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Global supply chain structural patterns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858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3892"/>
            <a:ext cx="12188952" cy="15910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110728" y="0"/>
            <a:ext cx="4078224" cy="1534829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265176"/>
            <a:ext cx="7543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-120"/>
              </a:rPr>
              <a:t>HT-HGNN Neural Network Architecture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" y="2688336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99897" y="1791843"/>
            <a:ext cx="5943600" cy="2377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99897" y="1791843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Processing Spine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99897" y="2066163"/>
            <a:ext cx="5943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99897" y="2121027"/>
            <a:ext cx="54864" cy="6217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827913" y="2121027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Input Node Features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827913" y="2446553"/>
            <a:ext cx="576072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d=12 per node · T=24 snapshots · +MOO Pareto embedding (4-dim)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99897" y="3011586"/>
            <a:ext cx="5943600" cy="7315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27913" y="306645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Spectral Hypergraph Convolution  ✦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27913" y="3391976"/>
            <a:ext cx="576072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3 layers · hidden=256 · LayerNorm · residual · intra-HE attention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699897" y="3958768"/>
            <a:ext cx="5943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699897" y="4013632"/>
            <a:ext cx="54864" cy="6217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827913" y="401363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Temporal Fusion Encoder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827913" y="4339158"/>
            <a:ext cx="576072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Bi-LSTM (2×128) + Transformer (4 heads, d=256) · gating mechanism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699897" y="4890980"/>
            <a:ext cx="5943600" cy="7315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827913" y="494584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Heterogeneous Relation Attention  ✦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827913" y="5271370"/>
            <a:ext cx="576072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5 type-specific W_r matrices · softmax across relation types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699897" y="5871125"/>
            <a:ext cx="5943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699897" y="5925989"/>
            <a:ext cx="54864" cy="6217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827913" y="5925989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Shared Node Representation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827913" y="6251515"/>
            <a:ext cx="576072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Unified embedding — input to all four prediction heads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6936105" y="1791843"/>
            <a:ext cx="4480560" cy="2377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936105" y="1791843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Prediction Heads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6936105" y="2066163"/>
            <a:ext cx="44805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6936105" y="2121027"/>
            <a:ext cx="54864" cy="6217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7064121" y="2121027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Price / Delay Prediction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7064121" y="2446553"/>
            <a:ext cx="429768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Regression head · MAE loss · λ=1.0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6936105" y="3011586"/>
            <a:ext cx="4480560" cy="7315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7064121" y="306645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Disruption Detection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7064121" y="3391976"/>
            <a:ext cx="429768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Binary · BCE loss · λ=0.8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6936105" y="3948829"/>
            <a:ext cx="4480560" cy="7315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7064121" y="4003693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Criticality Classification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7064121" y="4329219"/>
            <a:ext cx="429768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4-class · Cross-entropy · λ=1.2 (highest)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6936105" y="4902547"/>
            <a:ext cx="44805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6936105" y="4957411"/>
            <a:ext cx="54864" cy="6217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7064121" y="4957411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Cascade Risk Score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7064121" y="5282937"/>
            <a:ext cx="429768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KL-divergence · HIC simulation target · λ=0.6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6936105" y="6208510"/>
            <a:ext cx="448056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7045833" y="622679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✦ = Architectural improvements added in v2.0 (reviewer feedback)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Loss: L = 1.0·Price + 0.8·Disrupt + 1.2·Criticality + 0.6·Cascade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89E7240-9196-19DA-14FB-F0ED936C05DC}"/>
              </a:ext>
            </a:extLst>
          </p:cNvPr>
          <p:cNvCxnSpPr>
            <a:stCxn id="20" idx="3"/>
            <a:endCxn id="45" idx="1"/>
          </p:cNvCxnSpPr>
          <p:nvPr/>
        </p:nvCxnSpPr>
        <p:spPr>
          <a:xfrm>
            <a:off x="6643497" y="2431923"/>
            <a:ext cx="2926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4FF9D2E-CC70-8B8D-19F1-CAA5262001D4}"/>
              </a:ext>
            </a:extLst>
          </p:cNvPr>
          <p:cNvCxnSpPr>
            <a:stCxn id="44" idx="2"/>
            <a:endCxn id="49" idx="0"/>
          </p:cNvCxnSpPr>
          <p:nvPr/>
        </p:nvCxnSpPr>
        <p:spPr>
          <a:xfrm>
            <a:off x="9176385" y="2797683"/>
            <a:ext cx="0" cy="21390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3227028-C5D7-B12E-4C2C-0FC4B53430C8}"/>
              </a:ext>
            </a:extLst>
          </p:cNvPr>
          <p:cNvCxnSpPr>
            <a:stCxn id="25" idx="3"/>
            <a:endCxn id="49" idx="1"/>
          </p:cNvCxnSpPr>
          <p:nvPr/>
        </p:nvCxnSpPr>
        <p:spPr>
          <a:xfrm>
            <a:off x="6643497" y="3377346"/>
            <a:ext cx="2926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5C25250-60BB-7EA9-A8AD-287F901A22BC}"/>
              </a:ext>
            </a:extLst>
          </p:cNvPr>
          <p:cNvCxnSpPr>
            <a:stCxn id="20" idx="2"/>
            <a:endCxn id="25" idx="0"/>
          </p:cNvCxnSpPr>
          <p:nvPr/>
        </p:nvCxnSpPr>
        <p:spPr>
          <a:xfrm>
            <a:off x="3671697" y="2797683"/>
            <a:ext cx="0" cy="21390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F484A68-F720-FE45-9A66-2237F1BE5B3F}"/>
              </a:ext>
            </a:extLst>
          </p:cNvPr>
          <p:cNvCxnSpPr>
            <a:stCxn id="49" idx="2"/>
            <a:endCxn id="53" idx="0"/>
          </p:cNvCxnSpPr>
          <p:nvPr/>
        </p:nvCxnSpPr>
        <p:spPr>
          <a:xfrm>
            <a:off x="9176385" y="3743106"/>
            <a:ext cx="0" cy="2057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1C6E44B-357B-2146-D4A0-CA9DBCE75299}"/>
              </a:ext>
            </a:extLst>
          </p:cNvPr>
          <p:cNvCxnSpPr>
            <a:stCxn id="53" idx="2"/>
            <a:endCxn id="57" idx="0"/>
          </p:cNvCxnSpPr>
          <p:nvPr/>
        </p:nvCxnSpPr>
        <p:spPr>
          <a:xfrm>
            <a:off x="9176385" y="4680349"/>
            <a:ext cx="0" cy="22219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3670B55-D57C-7608-E265-8C1E34E6E1D7}"/>
              </a:ext>
            </a:extLst>
          </p:cNvPr>
          <p:cNvCxnSpPr>
            <a:stCxn id="29" idx="3"/>
            <a:endCxn id="53" idx="1"/>
          </p:cNvCxnSpPr>
          <p:nvPr/>
        </p:nvCxnSpPr>
        <p:spPr>
          <a:xfrm flipV="1">
            <a:off x="6643497" y="4314589"/>
            <a:ext cx="292608" cy="993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F358B617-CA4B-5442-0D8F-8B3A8C0C4ADA}"/>
              </a:ext>
            </a:extLst>
          </p:cNvPr>
          <p:cNvCxnSpPr>
            <a:cxnSpLocks/>
            <a:stCxn id="25" idx="2"/>
            <a:endCxn id="29" idx="0"/>
          </p:cNvCxnSpPr>
          <p:nvPr/>
        </p:nvCxnSpPr>
        <p:spPr>
          <a:xfrm>
            <a:off x="3671697" y="3743106"/>
            <a:ext cx="0" cy="2156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D5D0A65C-4BEC-FC92-0556-11B630D4D572}"/>
              </a:ext>
            </a:extLst>
          </p:cNvPr>
          <p:cNvCxnSpPr>
            <a:stCxn id="34" idx="0"/>
            <a:endCxn id="29" idx="2"/>
          </p:cNvCxnSpPr>
          <p:nvPr/>
        </p:nvCxnSpPr>
        <p:spPr>
          <a:xfrm flipV="1">
            <a:off x="3671697" y="4690288"/>
            <a:ext cx="0" cy="2006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DA4365A3-7F8D-B356-8AB0-52A321BC00E7}"/>
              </a:ext>
            </a:extLst>
          </p:cNvPr>
          <p:cNvCxnSpPr>
            <a:stCxn id="38" idx="0"/>
            <a:endCxn id="34" idx="2"/>
          </p:cNvCxnSpPr>
          <p:nvPr/>
        </p:nvCxnSpPr>
        <p:spPr>
          <a:xfrm flipV="1">
            <a:off x="3671697" y="5622500"/>
            <a:ext cx="0" cy="24862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C3655421-6405-2B0A-9E1A-A91DCD38F8EF}"/>
              </a:ext>
            </a:extLst>
          </p:cNvPr>
          <p:cNvCxnSpPr>
            <a:stCxn id="34" idx="3"/>
            <a:endCxn id="58" idx="1"/>
          </p:cNvCxnSpPr>
          <p:nvPr/>
        </p:nvCxnSpPr>
        <p:spPr>
          <a:xfrm>
            <a:off x="6643497" y="5256740"/>
            <a:ext cx="292608" cy="1156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" name="Picture 105" descr="Logo&#10;&#10;Description automatically generated">
            <a:extLst>
              <a:ext uri="{FF2B5EF4-FFF2-40B4-BE49-F238E27FC236}">
                <a16:creationId xmlns:a16="http://schemas.microsoft.com/office/drawing/2014/main" id="{F26DFED4-54B3-3766-3420-E4A6E7DE72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710161-9D91-4799-DEA0-36FC4AD09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3CE959F-F930-A35D-E9F7-5A34533F4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606FFE-2C76-D5F9-ABF9-423B47FB9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893027-471D-3E8C-97A3-4EFC113D2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04275D-35BE-3C54-E4AF-B32627D8F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316F84-E94C-A724-E0FE-A06473EF0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71ECD-38C8-76C8-D4DF-1CE0038B6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176"/>
            <a:ext cx="9895951" cy="1033669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FFFF"/>
                </a:solidFill>
                <a:latin typeface="Cambria" panose="02040503050406030204" pitchFamily="18" charset="0"/>
              </a:rPr>
              <a:t>Methodology</a:t>
            </a:r>
            <a:endParaRPr lang="en-IN" sz="4000" dirty="0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67260AB6-29F7-332C-6735-7AA13862F6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D28D3-A951-C602-E6A7-2CC048DF1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02650"/>
            <a:ext cx="2743200" cy="365125"/>
          </a:xfrm>
        </p:spPr>
        <p:txBody>
          <a:bodyPr/>
          <a:lstStyle/>
          <a:p>
            <a:fld id="{87ACCF74-76A4-4B7C-AE89-E33624618226}" type="slidenum">
              <a:rPr lang="en-IN" smtClean="0"/>
              <a:t>17</a:t>
            </a:fld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D90694-A5A6-7A72-FFA6-017B3D333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2065117"/>
            <a:ext cx="10515600" cy="435133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69D34E-73AE-E33D-4239-BA51518AF522}"/>
              </a:ext>
            </a:extLst>
          </p:cNvPr>
          <p:cNvSpPr txBox="1"/>
          <p:nvPr/>
        </p:nvSpPr>
        <p:spPr>
          <a:xfrm>
            <a:off x="79513" y="1623572"/>
            <a:ext cx="339227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Temporal LSTM Processing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04F487-4BC4-8056-AE26-D4EF18C69E13}"/>
              </a:ext>
            </a:extLst>
          </p:cNvPr>
          <p:cNvSpPr/>
          <p:nvPr/>
        </p:nvSpPr>
        <p:spPr>
          <a:xfrm>
            <a:off x="228600" y="2065117"/>
            <a:ext cx="4780722" cy="44450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400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</a:t>
            </a:r>
            <a:endParaRPr lang="en-US" sz="1400" b="1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fₜ = σ(</a:t>
            </a:r>
            <a:r>
              <a:rPr lang="en-US" sz="1400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</a:t>
            </a: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[hₜ₋₁, zₜ] + bf)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past info to discard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Gate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ₜ = σ(Wᵢ · [hₜ₋₁, zₜ] + bᵢ)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new info to store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c̃ₜ = tanh(</a:t>
            </a:r>
            <a:r>
              <a:rPr lang="en-US" sz="1400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</a:t>
            </a: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[hₜ₋₁, zₜ] + </a:t>
            </a:r>
            <a:r>
              <a:rPr lang="en-US" sz="1400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</a:t>
            </a: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new candidate values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State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cₜ = fₜ ⊙ cₜ₋₁ + </a:t>
            </a:r>
            <a:r>
              <a:rPr lang="en-US" sz="1400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ₜ ⊙ c̃ₜ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long-term memory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Gate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oₜ = σ(Wo · [hₜ₋₁, zₜ] + </a:t>
            </a:r>
            <a:r>
              <a:rPr lang="en-US" sz="1400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</a:t>
            </a: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hidden state exposure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hₜ = oₜ ⊙ tanh(cₜ)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 — carries forward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833332-F56D-0F9F-E2D1-3F6C87C27A2F}"/>
              </a:ext>
            </a:extLst>
          </p:cNvPr>
          <p:cNvSpPr/>
          <p:nvPr/>
        </p:nvSpPr>
        <p:spPr>
          <a:xfrm>
            <a:off x="228598" y="2038977"/>
            <a:ext cx="4780722" cy="36003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LSTM Gate Equations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3FEC14-EEBF-6BDA-B175-F1BC2AD0D27B}"/>
              </a:ext>
            </a:extLst>
          </p:cNvPr>
          <p:cNvSpPr/>
          <p:nvPr/>
        </p:nvSpPr>
        <p:spPr>
          <a:xfrm>
            <a:off x="5804452" y="2065117"/>
            <a:ext cx="5549348" cy="17713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 = 12 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monthly time steps
</a:t>
            </a: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Z⁽ᵗ⁾ ∈ ℝⁿˣᵈ 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per time step
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Each node: {z_i⁽¹⁾ … </a:t>
            </a:r>
            <a:r>
              <a:rPr 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z_i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⁽ᵀ⁾}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B8A5AE-400E-DAC1-4DF2-7AA728214729}"/>
              </a:ext>
            </a:extLst>
          </p:cNvPr>
          <p:cNvSpPr/>
          <p:nvPr/>
        </p:nvSpPr>
        <p:spPr>
          <a:xfrm>
            <a:off x="5804452" y="2065117"/>
            <a:ext cx="5549346" cy="33389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Input Sequence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C110B4-9492-575F-5D6A-D4A9BECC080F}"/>
              </a:ext>
            </a:extLst>
          </p:cNvPr>
          <p:cNvSpPr/>
          <p:nvPr/>
        </p:nvSpPr>
        <p:spPr>
          <a:xfrm>
            <a:off x="5804450" y="4265762"/>
            <a:ext cx="5549348" cy="17713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Forward  t = 1 → 12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Backward  t = 12 → 1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h̃ₜ = [h→ₜ ; h←ₜ]  ∈ ℝ²ᵈ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18B154-0D73-69A2-897B-873551371FAD}"/>
              </a:ext>
            </a:extLst>
          </p:cNvPr>
          <p:cNvSpPr/>
          <p:nvPr/>
        </p:nvSpPr>
        <p:spPr>
          <a:xfrm>
            <a:off x="5804450" y="4265762"/>
            <a:ext cx="5549346" cy="33389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Bidirectional LSTM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213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0EF375-C0B9-9A60-A440-CF49D73DE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08D4D02-AC3B-F6BB-6BB3-26A434655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753487-9739-1C0B-DE2E-E4A1920ED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AF5A29-7043-3111-BA58-E10E04E7B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C15ECE-7375-DFF6-B2A7-555D719B3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D233E85-C87F-94DD-6DA5-258833B8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A96D7D-B790-B327-B108-444F8129E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IN" alt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Heterogeneous Relationships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0106BDA8-C814-08B1-7341-CBFC308ECB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D426E-F9DC-7D0B-CFEB-10932C15E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18</a:t>
            </a:fld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6EF47EC-34D4-93D5-B8D6-BD9361227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62" y="1836824"/>
            <a:ext cx="11813367" cy="478178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993927-3108-E1FC-091F-FF7C52F2AF4B}"/>
              </a:ext>
            </a:extLst>
          </p:cNvPr>
          <p:cNvSpPr/>
          <p:nvPr/>
        </p:nvSpPr>
        <p:spPr>
          <a:xfrm>
            <a:off x="169441" y="1923026"/>
            <a:ext cx="3309731" cy="12026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supplier-of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H_v⁽1⁾ = </a:t>
            </a:r>
            <a:r>
              <a:rPr 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HypConv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(X, B⁽1⁾, Θ⁽1⁾)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3E406E-E8B2-B922-D162-70C3E6D8805E}"/>
              </a:ext>
            </a:extLst>
          </p:cNvPr>
          <p:cNvSpPr/>
          <p:nvPr/>
        </p:nvSpPr>
        <p:spPr>
          <a:xfrm>
            <a:off x="169441" y="3429000"/>
            <a:ext cx="3309731" cy="12026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manufactured-by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H_v⁽2⁾ = </a:t>
            </a:r>
            <a:r>
              <a:rPr 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HypConv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(X, B⁽2⁾, Θ⁽2⁾)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192943-0C35-A460-678B-55B43971F025}"/>
              </a:ext>
            </a:extLst>
          </p:cNvPr>
          <p:cNvSpPr/>
          <p:nvPr/>
        </p:nvSpPr>
        <p:spPr>
          <a:xfrm>
            <a:off x="169441" y="4934352"/>
            <a:ext cx="3309731" cy="12026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transported-by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H_v⁽3⁾ = </a:t>
            </a:r>
            <a:r>
              <a:rPr lang="en-US" sz="1400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HypConv</a:t>
            </a: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(X, B⁽3⁾, Θ⁽3⁾)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F6C422C-0465-016E-A91E-D5D74024FC36}"/>
              </a:ext>
            </a:extLst>
          </p:cNvPr>
          <p:cNvSpPr/>
          <p:nvPr/>
        </p:nvSpPr>
        <p:spPr>
          <a:xfrm>
            <a:off x="1570858" y="2007509"/>
            <a:ext cx="506896" cy="51683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4A5EE0E-B19B-CD98-BD27-461729F5C4A8}"/>
              </a:ext>
            </a:extLst>
          </p:cNvPr>
          <p:cNvSpPr/>
          <p:nvPr/>
        </p:nvSpPr>
        <p:spPr>
          <a:xfrm>
            <a:off x="1570858" y="3513483"/>
            <a:ext cx="506896" cy="51683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04B52AD-2BF8-0261-9CFF-43008FFC7603}"/>
              </a:ext>
            </a:extLst>
          </p:cNvPr>
          <p:cNvSpPr/>
          <p:nvPr/>
        </p:nvSpPr>
        <p:spPr>
          <a:xfrm>
            <a:off x="1570858" y="5018835"/>
            <a:ext cx="506896" cy="51683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ABA4FB8D-7AD7-8E47-DBE0-CB4BA4E6D459}"/>
              </a:ext>
            </a:extLst>
          </p:cNvPr>
          <p:cNvSpPr/>
          <p:nvPr/>
        </p:nvSpPr>
        <p:spPr>
          <a:xfrm>
            <a:off x="3646176" y="2117035"/>
            <a:ext cx="822942" cy="385638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33AA817-F105-BC54-18CA-F6751965A7AA}"/>
              </a:ext>
            </a:extLst>
          </p:cNvPr>
          <p:cNvSpPr/>
          <p:nvPr/>
        </p:nvSpPr>
        <p:spPr>
          <a:xfrm>
            <a:off x="4532537" y="3769415"/>
            <a:ext cx="2325463" cy="551622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Attention-Based Fusion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B3665F7-9299-0B67-9AD5-874C363FB9C8}"/>
              </a:ext>
            </a:extLst>
          </p:cNvPr>
          <p:cNvCxnSpPr/>
          <p:nvPr/>
        </p:nvCxnSpPr>
        <p:spPr>
          <a:xfrm>
            <a:off x="6858000" y="4045226"/>
            <a:ext cx="6299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25DF1D7-2FC6-937A-8C99-83553C72E7A3}"/>
              </a:ext>
            </a:extLst>
          </p:cNvPr>
          <p:cNvSpPr/>
          <p:nvPr/>
        </p:nvSpPr>
        <p:spPr>
          <a:xfrm>
            <a:off x="8419361" y="1933186"/>
            <a:ext cx="3309731" cy="12026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Step 1 - Raw Scores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ê_r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LeakyReLU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( a · </a:t>
            </a:r>
            <a:r>
              <a:rPr lang="en-US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H_v⁽ʳ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⁾ )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6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 ∈ ℝᵈ is a learnable attention vector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EC8750-84E2-2F45-F43F-3DCBC67521A8}"/>
              </a:ext>
            </a:extLst>
          </p:cNvPr>
          <p:cNvSpPr/>
          <p:nvPr/>
        </p:nvSpPr>
        <p:spPr>
          <a:xfrm>
            <a:off x="8419361" y="3439160"/>
            <a:ext cx="3309731" cy="12026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Step 2 - </a:t>
            </a:r>
            <a:r>
              <a:rPr lang="en-US" sz="16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Normalise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α_r = exp(</a:t>
            </a:r>
            <a:r>
              <a:rPr lang="en-US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ê_r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) / Σᵣ' exp(</a:t>
            </a:r>
            <a:r>
              <a:rPr lang="en-US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ê_r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')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600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Softmax</a:t>
            </a:r>
            <a:r>
              <a:rPr lang="en-US" sz="16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ensures weights sum to 1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B2102DE-EB67-5648-7321-4EFFB1B7603C}"/>
              </a:ext>
            </a:extLst>
          </p:cNvPr>
          <p:cNvSpPr/>
          <p:nvPr/>
        </p:nvSpPr>
        <p:spPr>
          <a:xfrm>
            <a:off x="8419361" y="4944512"/>
            <a:ext cx="3309731" cy="12026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Step 3 - Combine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H_v^final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 = Σᵣ α_r · </a:t>
            </a:r>
            <a:r>
              <a:rPr lang="en-US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H_v⁽ʳ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⁾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6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Weighted fusion of all relation embeddings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Left Brace 28">
            <a:extLst>
              <a:ext uri="{FF2B5EF4-FFF2-40B4-BE49-F238E27FC236}">
                <a16:creationId xmlns:a16="http://schemas.microsoft.com/office/drawing/2014/main" id="{6DF2338A-2EBE-7C2A-1608-184B4D50FA1B}"/>
              </a:ext>
            </a:extLst>
          </p:cNvPr>
          <p:cNvSpPr/>
          <p:nvPr/>
        </p:nvSpPr>
        <p:spPr>
          <a:xfrm>
            <a:off x="7587782" y="2117035"/>
            <a:ext cx="733258" cy="385637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95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76D7B5-6FF6-F247-9948-01366AB55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AB3CA04-D61B-0FB9-3CED-40A8825E9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334C19-7DC7-F0EF-40CC-776B83740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225EC1-E35E-7A39-2927-1851D5915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54571B-500C-963C-C1AE-4613B0315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EDDC45-B614-1D90-AE20-C937A13C0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3A303-0D9F-ED01-FC28-F6B476A0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Multi-Task Learning &amp; Output Heads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2160B98-2E31-BE43-8A43-A16FBACFC5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8BDB0-7148-4A7C-5279-33EA40EFD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19</a:t>
            </a:fld>
            <a:endParaRPr lang="en-IN" dirty="0"/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04FFB238-018C-5BAE-A2B3-1266C1B810C4}"/>
              </a:ext>
            </a:extLst>
          </p:cNvPr>
          <p:cNvSpPr/>
          <p:nvPr/>
        </p:nvSpPr>
        <p:spPr>
          <a:xfrm>
            <a:off x="4475480" y="1888744"/>
            <a:ext cx="2743200" cy="45478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FF33C5B5-3CC4-9F87-6A3C-107B4DAFA451}"/>
              </a:ext>
            </a:extLst>
          </p:cNvPr>
          <p:cNvSpPr/>
          <p:nvPr/>
        </p:nvSpPr>
        <p:spPr>
          <a:xfrm>
            <a:off x="4531360" y="17597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H_v^final  (Shared Representation)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Shape 7">
            <a:extLst>
              <a:ext uri="{FF2B5EF4-FFF2-40B4-BE49-F238E27FC236}">
                <a16:creationId xmlns:a16="http://schemas.microsoft.com/office/drawing/2014/main" id="{7BC81F44-FD2E-1F0D-1834-607C818ED4E8}"/>
              </a:ext>
            </a:extLst>
          </p:cNvPr>
          <p:cNvSpPr/>
          <p:nvPr/>
        </p:nvSpPr>
        <p:spPr>
          <a:xfrm>
            <a:off x="1485392" y="2986848"/>
            <a:ext cx="2834640" cy="3017520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Shape 8">
            <a:extLst>
              <a:ext uri="{FF2B5EF4-FFF2-40B4-BE49-F238E27FC236}">
                <a16:creationId xmlns:a16="http://schemas.microsoft.com/office/drawing/2014/main" id="{4B359786-F82B-B890-1CBA-0EA35985AE9B}"/>
              </a:ext>
            </a:extLst>
          </p:cNvPr>
          <p:cNvSpPr/>
          <p:nvPr/>
        </p:nvSpPr>
        <p:spPr>
          <a:xfrm>
            <a:off x="1479297" y="2976880"/>
            <a:ext cx="2834640" cy="41148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3FA8E5FE-192B-F90E-9D82-63C4D2C6F2FD}"/>
              </a:ext>
            </a:extLst>
          </p:cNvPr>
          <p:cNvSpPr/>
          <p:nvPr/>
        </p:nvSpPr>
        <p:spPr>
          <a:xfrm>
            <a:off x="1485392" y="2976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REGRESSION</a:t>
            </a:r>
            <a:endParaRPr lang="en-US" sz="11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C0CCCB5C-905E-03F4-4CD1-866FF0E7F66F}"/>
              </a:ext>
            </a:extLst>
          </p:cNvPr>
          <p:cNvSpPr/>
          <p:nvPr/>
        </p:nvSpPr>
        <p:spPr>
          <a:xfrm>
            <a:off x="1576832" y="3452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Price Prediction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15170419-C2EE-0D54-7DF5-41352A16421D}"/>
              </a:ext>
            </a:extLst>
          </p:cNvPr>
          <p:cNvSpPr/>
          <p:nvPr/>
        </p:nvSpPr>
        <p:spPr>
          <a:xfrm>
            <a:off x="1576832" y="3891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ŷ_price = W_price · H_v^final + b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EBE4F3F3-1A09-D475-7B0C-F9F54A26D267}"/>
              </a:ext>
            </a:extLst>
          </p:cNvPr>
          <p:cNvSpPr/>
          <p:nvPr/>
        </p:nvSpPr>
        <p:spPr>
          <a:xfrm>
            <a:off x="1576832" y="4394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Loss: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4BF6EF95-A84B-3807-BA9B-4156D52F1BCF}"/>
              </a:ext>
            </a:extLst>
          </p:cNvPr>
          <p:cNvSpPr/>
          <p:nvPr/>
        </p:nvSpPr>
        <p:spPr>
          <a:xfrm>
            <a:off x="1576832" y="46410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MSE  =  (1/n) · Σ (y − ŷ)²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Shape 14">
            <a:extLst>
              <a:ext uri="{FF2B5EF4-FFF2-40B4-BE49-F238E27FC236}">
                <a16:creationId xmlns:a16="http://schemas.microsoft.com/office/drawing/2014/main" id="{CF47EE77-FE36-A1C5-1270-1C8FA43B3537}"/>
              </a:ext>
            </a:extLst>
          </p:cNvPr>
          <p:cNvSpPr/>
          <p:nvPr/>
        </p:nvSpPr>
        <p:spPr>
          <a:xfrm>
            <a:off x="1576832" y="5125720"/>
            <a:ext cx="2651760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Text 15">
            <a:extLst>
              <a:ext uri="{FF2B5EF4-FFF2-40B4-BE49-F238E27FC236}">
                <a16:creationId xmlns:a16="http://schemas.microsoft.com/office/drawing/2014/main" id="{4584E3E6-EF85-E6EC-AC15-E5CFC1065D5D}"/>
              </a:ext>
            </a:extLst>
          </p:cNvPr>
          <p:cNvSpPr/>
          <p:nvPr/>
        </p:nvSpPr>
        <p:spPr>
          <a:xfrm>
            <a:off x="1576832" y="51257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λ₁ = 1.0   |   ŷ_price ∈ ℝⁿ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D3D0469C-5E2D-AF99-9484-E8B6E3CC56C2}"/>
              </a:ext>
            </a:extLst>
          </p:cNvPr>
          <p:cNvSpPr/>
          <p:nvPr/>
        </p:nvSpPr>
        <p:spPr>
          <a:xfrm>
            <a:off x="4475480" y="2976880"/>
            <a:ext cx="2834640" cy="30175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Shape 18">
            <a:extLst>
              <a:ext uri="{FF2B5EF4-FFF2-40B4-BE49-F238E27FC236}">
                <a16:creationId xmlns:a16="http://schemas.microsoft.com/office/drawing/2014/main" id="{8E179762-2B41-B399-A2E9-1AB91B3EF630}"/>
              </a:ext>
            </a:extLst>
          </p:cNvPr>
          <p:cNvSpPr/>
          <p:nvPr/>
        </p:nvSpPr>
        <p:spPr>
          <a:xfrm>
            <a:off x="4475480" y="2976880"/>
            <a:ext cx="2834640" cy="41148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7FC2A168-98FA-3B25-2ED9-25BBE2948DE7}"/>
              </a:ext>
            </a:extLst>
          </p:cNvPr>
          <p:cNvSpPr/>
          <p:nvPr/>
        </p:nvSpPr>
        <p:spPr>
          <a:xfrm>
            <a:off x="4475480" y="2976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BINARY CLASSIFICATION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770D1EBD-7641-D8D6-FA86-4F68AC5E2083}"/>
              </a:ext>
            </a:extLst>
          </p:cNvPr>
          <p:cNvSpPr/>
          <p:nvPr/>
        </p:nvSpPr>
        <p:spPr>
          <a:xfrm>
            <a:off x="4566920" y="3452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Change Detection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2313781B-0CFF-F2B1-A68A-AD55D37ACC32}"/>
              </a:ext>
            </a:extLst>
          </p:cNvPr>
          <p:cNvSpPr/>
          <p:nvPr/>
        </p:nvSpPr>
        <p:spPr>
          <a:xfrm>
            <a:off x="4566920" y="3891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ŷ_change = σ(W_change · H_v^final + b)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Text 22">
            <a:extLst>
              <a:ext uri="{FF2B5EF4-FFF2-40B4-BE49-F238E27FC236}">
                <a16:creationId xmlns:a16="http://schemas.microsoft.com/office/drawing/2014/main" id="{E304A66C-6443-0B53-D46D-1EA4C0D88321}"/>
              </a:ext>
            </a:extLst>
          </p:cNvPr>
          <p:cNvSpPr/>
          <p:nvPr/>
        </p:nvSpPr>
        <p:spPr>
          <a:xfrm>
            <a:off x="4566920" y="4394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Loss: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57DFE776-FB2F-5C72-B023-5F0E94210ADA}"/>
              </a:ext>
            </a:extLst>
          </p:cNvPr>
          <p:cNvSpPr/>
          <p:nvPr/>
        </p:nvSpPr>
        <p:spPr>
          <a:xfrm>
            <a:off x="4566920" y="46410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BCE  =  −Σ [y·log(ŷ) + (1−y)·log(1−ŷ)]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Shape 24">
            <a:extLst>
              <a:ext uri="{FF2B5EF4-FFF2-40B4-BE49-F238E27FC236}">
                <a16:creationId xmlns:a16="http://schemas.microsoft.com/office/drawing/2014/main" id="{80DC2304-D606-DA61-0D5C-84AA5D279941}"/>
              </a:ext>
            </a:extLst>
          </p:cNvPr>
          <p:cNvSpPr/>
          <p:nvPr/>
        </p:nvSpPr>
        <p:spPr>
          <a:xfrm>
            <a:off x="4566920" y="5125720"/>
            <a:ext cx="2651760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Text 25">
            <a:extLst>
              <a:ext uri="{FF2B5EF4-FFF2-40B4-BE49-F238E27FC236}">
                <a16:creationId xmlns:a16="http://schemas.microsoft.com/office/drawing/2014/main" id="{5B31F56C-D3DC-5027-DD84-CABE05F99024}"/>
              </a:ext>
            </a:extLst>
          </p:cNvPr>
          <p:cNvSpPr/>
          <p:nvPr/>
        </p:nvSpPr>
        <p:spPr>
          <a:xfrm>
            <a:off x="4566920" y="51257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λ₂ = 0.8   |   ŷ_change ∈ (0,1)ⁿ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3" name="Shape 27">
            <a:extLst>
              <a:ext uri="{FF2B5EF4-FFF2-40B4-BE49-F238E27FC236}">
                <a16:creationId xmlns:a16="http://schemas.microsoft.com/office/drawing/2014/main" id="{2F60CA04-2A5D-0B57-8A96-0E75582D4975}"/>
              </a:ext>
            </a:extLst>
          </p:cNvPr>
          <p:cNvSpPr/>
          <p:nvPr/>
        </p:nvSpPr>
        <p:spPr>
          <a:xfrm>
            <a:off x="7465568" y="2976880"/>
            <a:ext cx="2834640" cy="30175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4" name="Shape 28">
            <a:extLst>
              <a:ext uri="{FF2B5EF4-FFF2-40B4-BE49-F238E27FC236}">
                <a16:creationId xmlns:a16="http://schemas.microsoft.com/office/drawing/2014/main" id="{23527A7A-580B-EE85-E828-D6AFF6703F0C}"/>
              </a:ext>
            </a:extLst>
          </p:cNvPr>
          <p:cNvSpPr/>
          <p:nvPr/>
        </p:nvSpPr>
        <p:spPr>
          <a:xfrm>
            <a:off x="7465568" y="2976880"/>
            <a:ext cx="2834640" cy="41148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5" name="Text 29">
            <a:extLst>
              <a:ext uri="{FF2B5EF4-FFF2-40B4-BE49-F238E27FC236}">
                <a16:creationId xmlns:a16="http://schemas.microsoft.com/office/drawing/2014/main" id="{CF4D1712-D40D-9212-47F3-F00E65414454}"/>
              </a:ext>
            </a:extLst>
          </p:cNvPr>
          <p:cNvSpPr/>
          <p:nvPr/>
        </p:nvSpPr>
        <p:spPr>
          <a:xfrm>
            <a:off x="7465568" y="2976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MULTI-CLASS</a:t>
            </a:r>
            <a:endParaRPr lang="en-US" sz="11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6" name="Text 30">
            <a:extLst>
              <a:ext uri="{FF2B5EF4-FFF2-40B4-BE49-F238E27FC236}">
                <a16:creationId xmlns:a16="http://schemas.microsoft.com/office/drawing/2014/main" id="{60682E96-D3FD-4849-07AD-81E869384D85}"/>
              </a:ext>
            </a:extLst>
          </p:cNvPr>
          <p:cNvSpPr/>
          <p:nvPr/>
        </p:nvSpPr>
        <p:spPr>
          <a:xfrm>
            <a:off x="7557008" y="3452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Criticality Score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7" name="Text 31">
            <a:extLst>
              <a:ext uri="{FF2B5EF4-FFF2-40B4-BE49-F238E27FC236}">
                <a16:creationId xmlns:a16="http://schemas.microsoft.com/office/drawing/2014/main" id="{7F93E7BA-86BD-77C3-1177-E132C0F75A95}"/>
              </a:ext>
            </a:extLst>
          </p:cNvPr>
          <p:cNvSpPr/>
          <p:nvPr/>
        </p:nvSpPr>
        <p:spPr>
          <a:xfrm>
            <a:off x="7557008" y="3891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ŷ_crit = Softmax(W_crit · H_v^final + b)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8" name="Text 32">
            <a:extLst>
              <a:ext uri="{FF2B5EF4-FFF2-40B4-BE49-F238E27FC236}">
                <a16:creationId xmlns:a16="http://schemas.microsoft.com/office/drawing/2014/main" id="{48F046A1-2FBF-68CB-C730-652B110BE094}"/>
              </a:ext>
            </a:extLst>
          </p:cNvPr>
          <p:cNvSpPr/>
          <p:nvPr/>
        </p:nvSpPr>
        <p:spPr>
          <a:xfrm>
            <a:off x="7557008" y="4394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Loss: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9" name="Text 33">
            <a:extLst>
              <a:ext uri="{FF2B5EF4-FFF2-40B4-BE49-F238E27FC236}">
                <a16:creationId xmlns:a16="http://schemas.microsoft.com/office/drawing/2014/main" id="{52294427-B55B-6F13-B5AD-B4C3157D3FBB}"/>
              </a:ext>
            </a:extLst>
          </p:cNvPr>
          <p:cNvSpPr/>
          <p:nvPr/>
        </p:nvSpPr>
        <p:spPr>
          <a:xfrm>
            <a:off x="7557008" y="46410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CE  =  −Σᵢ Σₖ yᵢₖ · log(ŷᵢₖ)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0" name="Shape 34">
            <a:extLst>
              <a:ext uri="{FF2B5EF4-FFF2-40B4-BE49-F238E27FC236}">
                <a16:creationId xmlns:a16="http://schemas.microsoft.com/office/drawing/2014/main" id="{A510E81E-4798-9443-4D0D-17D73C95EB5B}"/>
              </a:ext>
            </a:extLst>
          </p:cNvPr>
          <p:cNvSpPr/>
          <p:nvPr/>
        </p:nvSpPr>
        <p:spPr>
          <a:xfrm>
            <a:off x="7557008" y="5125720"/>
            <a:ext cx="2651760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1" name="Text 35">
            <a:extLst>
              <a:ext uri="{FF2B5EF4-FFF2-40B4-BE49-F238E27FC236}">
                <a16:creationId xmlns:a16="http://schemas.microsoft.com/office/drawing/2014/main" id="{559515D5-BEBC-BC4D-12D6-073F8AF9851F}"/>
              </a:ext>
            </a:extLst>
          </p:cNvPr>
          <p:cNvSpPr/>
          <p:nvPr/>
        </p:nvSpPr>
        <p:spPr>
          <a:xfrm>
            <a:off x="7557008" y="51257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λ₃ = 1.2  ← primary   |   ŷ_crit ∈ ℝⁿˣ⁴  {LOW·MED·HIGH·CRIT}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2" name="Shape 36">
            <a:extLst>
              <a:ext uri="{FF2B5EF4-FFF2-40B4-BE49-F238E27FC236}">
                <a16:creationId xmlns:a16="http://schemas.microsoft.com/office/drawing/2014/main" id="{99526E1B-EBCF-7241-7421-E4D3D1EC52C7}"/>
              </a:ext>
            </a:extLst>
          </p:cNvPr>
          <p:cNvSpPr/>
          <p:nvPr/>
        </p:nvSpPr>
        <p:spPr>
          <a:xfrm>
            <a:off x="1457960" y="5948680"/>
            <a:ext cx="8869680" cy="2286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3" name="Text 37">
            <a:extLst>
              <a:ext uri="{FF2B5EF4-FFF2-40B4-BE49-F238E27FC236}">
                <a16:creationId xmlns:a16="http://schemas.microsoft.com/office/drawing/2014/main" id="{62E6C146-E233-D0E7-9470-10F207AAE93A}"/>
              </a:ext>
            </a:extLst>
          </p:cNvPr>
          <p:cNvSpPr/>
          <p:nvPr/>
        </p:nvSpPr>
        <p:spPr>
          <a:xfrm>
            <a:off x="1457960" y="5948680"/>
            <a:ext cx="886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L_total  =  1.0 · L_price  +  0.8 · L_change  +  1.2 · L_crit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1987134-085D-6C97-4C9C-3A4A69E209BE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5847080" y="2343528"/>
            <a:ext cx="0" cy="2468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2EC772C-A796-B398-A643-0FACBC958273}"/>
              </a:ext>
            </a:extLst>
          </p:cNvPr>
          <p:cNvCxnSpPr>
            <a:cxnSpLocks/>
          </p:cNvCxnSpPr>
          <p:nvPr/>
        </p:nvCxnSpPr>
        <p:spPr>
          <a:xfrm>
            <a:off x="2902712" y="2590416"/>
            <a:ext cx="60106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F8DAF5FB-03AA-6F8C-E335-BB5AFA89AB27}"/>
              </a:ext>
            </a:extLst>
          </p:cNvPr>
          <p:cNvCxnSpPr/>
          <p:nvPr/>
        </p:nvCxnSpPr>
        <p:spPr>
          <a:xfrm>
            <a:off x="2905760" y="2590416"/>
            <a:ext cx="0" cy="3864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37562235-186A-A9F9-67D4-D410D1A823C7}"/>
              </a:ext>
            </a:extLst>
          </p:cNvPr>
          <p:cNvCxnSpPr/>
          <p:nvPr/>
        </p:nvCxnSpPr>
        <p:spPr>
          <a:xfrm>
            <a:off x="5847080" y="2600384"/>
            <a:ext cx="0" cy="3864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5268420-A068-25E1-6D5B-CFBA103C830C}"/>
              </a:ext>
            </a:extLst>
          </p:cNvPr>
          <p:cNvCxnSpPr/>
          <p:nvPr/>
        </p:nvCxnSpPr>
        <p:spPr>
          <a:xfrm>
            <a:off x="8913368" y="2590416"/>
            <a:ext cx="0" cy="3864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144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E1CAEC-A712-E6B2-483F-4ADE0A0A1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AA2B7E5-B7B0-C1A9-7FBA-6E892303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B7117E-14D5-C9FB-1CF4-9823F970B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552F08-BC1A-B71F-4F22-474E3A5B5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97E526-E869-CE6B-DD21-E8D664180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1C3E6A-DD81-6EFD-51AE-32EE4FC65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A488AE-2663-C1B9-B9B9-EFF7871D2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IN" alt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Optimizer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19D336E6-C733-330C-0F1B-FDDEAF7EC2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1735B-1309-F7BF-54D4-3F957C2C2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20</a:t>
            </a:fld>
            <a:endParaRPr lang="en-IN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B3FE3616-4420-57BF-058A-793D4D17A6D3}"/>
              </a:ext>
            </a:extLst>
          </p:cNvPr>
          <p:cNvSpPr/>
          <p:nvPr/>
        </p:nvSpPr>
        <p:spPr>
          <a:xfrm>
            <a:off x="261912" y="1837985"/>
            <a:ext cx="5640538" cy="349506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D44E3A4A-0553-EDE8-CFBC-A55FAECB9DEB}"/>
              </a:ext>
            </a:extLst>
          </p:cNvPr>
          <p:cNvSpPr/>
          <p:nvPr/>
        </p:nvSpPr>
        <p:spPr>
          <a:xfrm>
            <a:off x="261912" y="1837985"/>
            <a:ext cx="5640538" cy="41148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 sz="1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CE0C5960-62EC-9298-6426-537F1F8C6211}"/>
              </a:ext>
            </a:extLst>
          </p:cNvPr>
          <p:cNvSpPr/>
          <p:nvPr/>
        </p:nvSpPr>
        <p:spPr>
          <a:xfrm>
            <a:off x="261912" y="1875589"/>
            <a:ext cx="5640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Adam Optimiser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BE785966-613F-D629-A4CF-8F68CA24CAA8}"/>
              </a:ext>
            </a:extLst>
          </p:cNvPr>
          <p:cNvSpPr/>
          <p:nvPr/>
        </p:nvSpPr>
        <p:spPr>
          <a:xfrm>
            <a:off x="353352" y="2369365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1st Moment (mean)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975BF6-9918-8B3F-C43A-1C94928365F3}"/>
              </a:ext>
            </a:extLst>
          </p:cNvPr>
          <p:cNvSpPr/>
          <p:nvPr/>
        </p:nvSpPr>
        <p:spPr>
          <a:xfrm>
            <a:off x="353352" y="2607109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m̂ₜ = β₁·mₜ₋₁ + (1−β₁)·∇L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CDF47E1-826E-1F83-3F0C-55A854036346}"/>
              </a:ext>
            </a:extLst>
          </p:cNvPr>
          <p:cNvSpPr/>
          <p:nvPr/>
        </p:nvSpPr>
        <p:spPr>
          <a:xfrm>
            <a:off x="353352" y="3027733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2nd Moment (variance)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CADDF4AB-3336-CE1D-CB80-C2284E647D3F}"/>
              </a:ext>
            </a:extLst>
          </p:cNvPr>
          <p:cNvSpPr/>
          <p:nvPr/>
        </p:nvSpPr>
        <p:spPr>
          <a:xfrm>
            <a:off x="353352" y="3265477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v̂ₜ = β₂·vₜ₋₁ + (1−β₂)·(∇L)²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4C1A06B4-A2A6-E10A-AB6F-BA7119826020}"/>
              </a:ext>
            </a:extLst>
          </p:cNvPr>
          <p:cNvSpPr/>
          <p:nvPr/>
        </p:nvSpPr>
        <p:spPr>
          <a:xfrm>
            <a:off x="353352" y="3686101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Bias Correction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E75BEEA9-79FD-67F5-5395-C87D0782FAEC}"/>
              </a:ext>
            </a:extLst>
          </p:cNvPr>
          <p:cNvSpPr/>
          <p:nvPr/>
        </p:nvSpPr>
        <p:spPr>
          <a:xfrm>
            <a:off x="353352" y="3923845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m̂ₜ = mₜ/(1−β₁ᵗ)    v̂ₜ = vₜ/(1−β₂ᵗ)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2FC38439-F993-57EE-82AF-E5143A319E7A}"/>
              </a:ext>
            </a:extLst>
          </p:cNvPr>
          <p:cNvSpPr/>
          <p:nvPr/>
        </p:nvSpPr>
        <p:spPr>
          <a:xfrm>
            <a:off x="353352" y="4344469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Parameter Update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D518F5D5-9CAD-7A17-37AC-793846F4B89E}"/>
              </a:ext>
            </a:extLst>
          </p:cNvPr>
          <p:cNvSpPr/>
          <p:nvPr/>
        </p:nvSpPr>
        <p:spPr>
          <a:xfrm>
            <a:off x="353352" y="4582213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θₜ = θₜ₋₁ − η · m̂ₜ / (√v̂ₜ + ε)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FC99D6F1-A800-ED43-5BC6-8B437AC928E5}"/>
              </a:ext>
            </a:extLst>
          </p:cNvPr>
          <p:cNvSpPr/>
          <p:nvPr/>
        </p:nvSpPr>
        <p:spPr>
          <a:xfrm>
            <a:off x="262422" y="5480357"/>
            <a:ext cx="5477978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40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7CE1AED4-21D3-9AA5-EFFB-3AF080D57A8B}"/>
              </a:ext>
            </a:extLst>
          </p:cNvPr>
          <p:cNvSpPr/>
          <p:nvPr/>
        </p:nvSpPr>
        <p:spPr>
          <a:xfrm>
            <a:off x="262422" y="5480357"/>
            <a:ext cx="1463040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η = 0.001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F5340841-6BFD-BE0B-74E0-787234007EE0}"/>
              </a:ext>
            </a:extLst>
          </p:cNvPr>
          <p:cNvSpPr/>
          <p:nvPr/>
        </p:nvSpPr>
        <p:spPr>
          <a:xfrm>
            <a:off x="1725462" y="5480357"/>
            <a:ext cx="1561298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Learning rate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B2CD2CD9-9D45-53E9-BD4E-F74B3CA77DDD}"/>
              </a:ext>
            </a:extLst>
          </p:cNvPr>
          <p:cNvSpPr/>
          <p:nvPr/>
        </p:nvSpPr>
        <p:spPr>
          <a:xfrm>
            <a:off x="3286760" y="5480357"/>
            <a:ext cx="770422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β₁ = 0.9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8118296B-DA84-BACC-7FAA-9FE244D4C580}"/>
              </a:ext>
            </a:extLst>
          </p:cNvPr>
          <p:cNvSpPr/>
          <p:nvPr/>
        </p:nvSpPr>
        <p:spPr>
          <a:xfrm>
            <a:off x="4057182" y="5480357"/>
            <a:ext cx="1683218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1st moment decay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99CDA6A2-AEAF-892B-9DD7-8389CED9E2C2}"/>
              </a:ext>
            </a:extLst>
          </p:cNvPr>
          <p:cNvSpPr/>
          <p:nvPr/>
        </p:nvSpPr>
        <p:spPr>
          <a:xfrm>
            <a:off x="262422" y="5772965"/>
            <a:ext cx="5477978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40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F195DA4E-A3D6-5082-8DD7-67C7B42CC29B}"/>
              </a:ext>
            </a:extLst>
          </p:cNvPr>
          <p:cNvSpPr/>
          <p:nvPr/>
        </p:nvSpPr>
        <p:spPr>
          <a:xfrm>
            <a:off x="262422" y="5772965"/>
            <a:ext cx="1463040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β₂ = 0.999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444581EE-4A9E-240B-056E-77EE932558EC}"/>
              </a:ext>
            </a:extLst>
          </p:cNvPr>
          <p:cNvSpPr/>
          <p:nvPr/>
        </p:nvSpPr>
        <p:spPr>
          <a:xfrm>
            <a:off x="1725462" y="5772965"/>
            <a:ext cx="1561298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2nd moment decay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3C716A89-E305-D47F-E9AD-63E12203C0B5}"/>
              </a:ext>
            </a:extLst>
          </p:cNvPr>
          <p:cNvSpPr/>
          <p:nvPr/>
        </p:nvSpPr>
        <p:spPr>
          <a:xfrm>
            <a:off x="3286760" y="5772965"/>
            <a:ext cx="770422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ε = 1e-8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8FB357C0-22EB-588C-0EEF-17FE46A2790D}"/>
              </a:ext>
            </a:extLst>
          </p:cNvPr>
          <p:cNvSpPr/>
          <p:nvPr/>
        </p:nvSpPr>
        <p:spPr>
          <a:xfrm>
            <a:off x="4057182" y="5772965"/>
            <a:ext cx="1683218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Stability constant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Shape 25">
            <a:extLst>
              <a:ext uri="{FF2B5EF4-FFF2-40B4-BE49-F238E27FC236}">
                <a16:creationId xmlns:a16="http://schemas.microsoft.com/office/drawing/2014/main" id="{90055BCA-537C-F5C4-A699-6A0155DED5B1}"/>
              </a:ext>
            </a:extLst>
          </p:cNvPr>
          <p:cNvSpPr/>
          <p:nvPr/>
        </p:nvSpPr>
        <p:spPr>
          <a:xfrm>
            <a:off x="262422" y="6065573"/>
            <a:ext cx="5477978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40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95C23DB3-4C43-218D-C6C5-77FECFEAB0AD}"/>
              </a:ext>
            </a:extLst>
          </p:cNvPr>
          <p:cNvSpPr/>
          <p:nvPr/>
        </p:nvSpPr>
        <p:spPr>
          <a:xfrm>
            <a:off x="262422" y="6065573"/>
            <a:ext cx="1463040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λ = 1e-5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D3E11BFC-44B9-55DE-EED3-F7C13B0FA6FF}"/>
              </a:ext>
            </a:extLst>
          </p:cNvPr>
          <p:cNvSpPr/>
          <p:nvPr/>
        </p:nvSpPr>
        <p:spPr>
          <a:xfrm>
            <a:off x="1725462" y="6065573"/>
            <a:ext cx="1561298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L2 weight decay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Shape 28">
            <a:extLst>
              <a:ext uri="{FF2B5EF4-FFF2-40B4-BE49-F238E27FC236}">
                <a16:creationId xmlns:a16="http://schemas.microsoft.com/office/drawing/2014/main" id="{99959335-6320-F7BD-00EF-3BA4F2B92463}"/>
              </a:ext>
            </a:extLst>
          </p:cNvPr>
          <p:cNvSpPr/>
          <p:nvPr/>
        </p:nvSpPr>
        <p:spPr>
          <a:xfrm>
            <a:off x="6632294" y="1875589"/>
            <a:ext cx="4826448" cy="15544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Shape 29">
            <a:extLst>
              <a:ext uri="{FF2B5EF4-FFF2-40B4-BE49-F238E27FC236}">
                <a16:creationId xmlns:a16="http://schemas.microsoft.com/office/drawing/2014/main" id="{754247BD-0449-2EE4-3A6A-265344E32681}"/>
              </a:ext>
            </a:extLst>
          </p:cNvPr>
          <p:cNvSpPr/>
          <p:nvPr/>
        </p:nvSpPr>
        <p:spPr>
          <a:xfrm>
            <a:off x="6632294" y="1875589"/>
            <a:ext cx="4826448" cy="41148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29A38C1B-6831-D86D-279A-C94B6E76064C}"/>
              </a:ext>
            </a:extLst>
          </p:cNvPr>
          <p:cNvSpPr/>
          <p:nvPr/>
        </p:nvSpPr>
        <p:spPr>
          <a:xfrm>
            <a:off x="7618262" y="1875589"/>
            <a:ext cx="272950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LR Step Decay Schedule</a:t>
            </a:r>
            <a:endParaRPr lang="en-US" sz="1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DD7A4F98-79B8-9139-A418-8DA0F0618323}"/>
              </a:ext>
            </a:extLst>
          </p:cNvPr>
          <p:cNvSpPr/>
          <p:nvPr/>
        </p:nvSpPr>
        <p:spPr>
          <a:xfrm>
            <a:off x="6724890" y="2351077"/>
            <a:ext cx="46424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ηₜ = η₀ · γ^⌊t/5⌋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5697EA81-6D3A-520D-7291-84AE1565220B}"/>
              </a:ext>
            </a:extLst>
          </p:cNvPr>
          <p:cNvSpPr/>
          <p:nvPr/>
        </p:nvSpPr>
        <p:spPr>
          <a:xfrm>
            <a:off x="6724890" y="2789989"/>
            <a:ext cx="46424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γ = 0.9  →  −10% every 5 epochs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Aggressive early learning, fine-grained near convergence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Shape 33">
            <a:extLst>
              <a:ext uri="{FF2B5EF4-FFF2-40B4-BE49-F238E27FC236}">
                <a16:creationId xmlns:a16="http://schemas.microsoft.com/office/drawing/2014/main" id="{78314F7C-6646-F51B-7E77-C80B836D7E60}"/>
              </a:ext>
            </a:extLst>
          </p:cNvPr>
          <p:cNvSpPr/>
          <p:nvPr/>
        </p:nvSpPr>
        <p:spPr>
          <a:xfrm>
            <a:off x="6632294" y="3539797"/>
            <a:ext cx="4826448" cy="16916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Shape 34">
            <a:extLst>
              <a:ext uri="{FF2B5EF4-FFF2-40B4-BE49-F238E27FC236}">
                <a16:creationId xmlns:a16="http://schemas.microsoft.com/office/drawing/2014/main" id="{E9692A03-07EB-289F-F90B-C1A6406909DE}"/>
              </a:ext>
            </a:extLst>
          </p:cNvPr>
          <p:cNvSpPr/>
          <p:nvPr/>
        </p:nvSpPr>
        <p:spPr>
          <a:xfrm>
            <a:off x="6632294" y="3539797"/>
            <a:ext cx="4826448" cy="41148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 sz="1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Text 35">
            <a:extLst>
              <a:ext uri="{FF2B5EF4-FFF2-40B4-BE49-F238E27FC236}">
                <a16:creationId xmlns:a16="http://schemas.microsoft.com/office/drawing/2014/main" id="{9764ACB6-D6E3-F95F-BA00-0154821B738E}"/>
              </a:ext>
            </a:extLst>
          </p:cNvPr>
          <p:cNvSpPr/>
          <p:nvPr/>
        </p:nvSpPr>
        <p:spPr>
          <a:xfrm>
            <a:off x="7618262" y="3539797"/>
            <a:ext cx="29957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Regularisation</a:t>
            </a:r>
            <a:endParaRPr lang="en-US" sz="1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Text 36">
            <a:extLst>
              <a:ext uri="{FF2B5EF4-FFF2-40B4-BE49-F238E27FC236}">
                <a16:creationId xmlns:a16="http://schemas.microsoft.com/office/drawing/2014/main" id="{773D7401-B16B-04F8-7757-8FFA601C7DD6}"/>
              </a:ext>
            </a:extLst>
          </p:cNvPr>
          <p:cNvSpPr/>
          <p:nvPr/>
        </p:nvSpPr>
        <p:spPr>
          <a:xfrm>
            <a:off x="7709702" y="4015285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Dropout  p = 0.3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Text 37">
            <a:extLst>
              <a:ext uri="{FF2B5EF4-FFF2-40B4-BE49-F238E27FC236}">
                <a16:creationId xmlns:a16="http://schemas.microsoft.com/office/drawing/2014/main" id="{B641D881-6337-68A6-3BB4-BAE3DBF037D1}"/>
              </a:ext>
            </a:extLst>
          </p:cNvPr>
          <p:cNvSpPr/>
          <p:nvPr/>
        </p:nvSpPr>
        <p:spPr>
          <a:xfrm>
            <a:off x="6724890" y="4271317"/>
            <a:ext cx="464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h̃ᵢ = hᵢ · Bernoulli(1−p) / (1−p)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Text 38">
            <a:extLst>
              <a:ext uri="{FF2B5EF4-FFF2-40B4-BE49-F238E27FC236}">
                <a16:creationId xmlns:a16="http://schemas.microsoft.com/office/drawing/2014/main" id="{38A31B5D-4C1B-61D7-D15D-294689C0A8BC}"/>
              </a:ext>
            </a:extLst>
          </p:cNvPr>
          <p:cNvSpPr/>
          <p:nvPr/>
        </p:nvSpPr>
        <p:spPr>
          <a:xfrm>
            <a:off x="6724890" y="4591357"/>
            <a:ext cx="464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Layer Normalisation after each hypergraph layer: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Text 39">
            <a:extLst>
              <a:ext uri="{FF2B5EF4-FFF2-40B4-BE49-F238E27FC236}">
                <a16:creationId xmlns:a16="http://schemas.microsoft.com/office/drawing/2014/main" id="{6C365BB2-EB90-34BE-97F4-D66D5022C31C}"/>
              </a:ext>
            </a:extLst>
          </p:cNvPr>
          <p:cNvSpPr/>
          <p:nvPr/>
        </p:nvSpPr>
        <p:spPr>
          <a:xfrm>
            <a:off x="6724890" y="4838245"/>
            <a:ext cx="464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LN(x) = γ·(x−μ)/√(σ²+ε) + β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180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5910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110728" y="0"/>
            <a:ext cx="4078224" cy="1591056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265176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-120"/>
              </a:rPr>
              <a:t>Cascade Disruption Simulation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" y="2962656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008" y="420624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4008" y="5449824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957071" y="2029968"/>
            <a:ext cx="4389120" cy="2377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57071" y="202996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HIC Simulation Pipeline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57071" y="2304288"/>
            <a:ext cx="43891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957071" y="2359152"/>
            <a:ext cx="54864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085087" y="23591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Select Shock Node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085087" y="2608600"/>
            <a:ext cx="4206240" cy="245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e.g. supplier failure · weather event · regulatory change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151631" y="2889504"/>
            <a:ext cx="0" cy="9144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957071" y="2980944"/>
            <a:ext cx="4389120" cy="58521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085087" y="30358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HIC Probability Initialisation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085087" y="3285256"/>
            <a:ext cx="4206240" cy="245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Each hyperedge e assigned propagation probability p(e)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151631" y="3566160"/>
            <a:ext cx="0" cy="9144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957071" y="3657600"/>
            <a:ext cx="43891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957071" y="3712464"/>
            <a:ext cx="54864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085087" y="371246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Probability Propagation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085087" y="3961912"/>
            <a:ext cx="4206240" cy="245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Disrupted node activates all its hyperedges → all member nodes at risk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151631" y="4242816"/>
            <a:ext cx="0" cy="9144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957071" y="4334256"/>
            <a:ext cx="4389120" cy="58521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1085087" y="43891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Cascade Depth &amp; Spread Calculation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1085087" y="4638568"/>
            <a:ext cx="4206240" cy="245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Tier-1 → Tier-2 → Tier-3 tracked; depth + affected node set computed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3151631" y="4919472"/>
            <a:ext cx="0" cy="9144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957071" y="5010912"/>
            <a:ext cx="43891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957071" y="5065776"/>
            <a:ext cx="54864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1085087" y="50657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Cascade Spread Prediction Output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1085087" y="5315224"/>
            <a:ext cx="4206240" cy="245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Distribution used as KL-divergence target for cascade head training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3151631" y="5596128"/>
            <a:ext cx="0" cy="9144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957071" y="5687568"/>
            <a:ext cx="43891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957071" y="5742432"/>
            <a:ext cx="54864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1085087" y="57424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KL-Div Training Signal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1085087" y="5991880"/>
            <a:ext cx="4206240" cy="245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End-to-end training — closes Research Gap 3 from literature review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5638799" y="2029968"/>
            <a:ext cx="6035040" cy="2377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5638799" y="202996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Cascade Propagation — Tier Structure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7193279" y="2304288"/>
            <a:ext cx="2926080" cy="676656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7303007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SHOCK NODE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7303007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Source of disruption event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8656319" y="2980944"/>
            <a:ext cx="0" cy="128016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6736079" y="3108960"/>
            <a:ext cx="38404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6736079" y="3108960"/>
            <a:ext cx="3840480" cy="457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6845807" y="3163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Tier-1 Affected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6845807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Direct members of shock node's hyperedges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8656319" y="3785616"/>
            <a:ext cx="0" cy="128016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6278879" y="3913632"/>
            <a:ext cx="47548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6278879" y="3913632"/>
            <a:ext cx="4754880" cy="457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6388607" y="39684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Tier-2 Affected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6388607" y="4261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Secondary propagation via shared hyperedges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8656319" y="4590288"/>
            <a:ext cx="0" cy="128016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5821679" y="4718304"/>
            <a:ext cx="56692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2" name="Shape 59"/>
          <p:cNvSpPr/>
          <p:nvPr/>
        </p:nvSpPr>
        <p:spPr>
          <a:xfrm>
            <a:off x="5821679" y="4718304"/>
            <a:ext cx="5669280" cy="457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5931407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Tier-3+ Affected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5931407" y="50657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Tertiary cascade — often invisible to pairwise graph models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7" name="Picture 66" descr="Logo&#10;&#10;Description automatically generated">
            <a:extLst>
              <a:ext uri="{FF2B5EF4-FFF2-40B4-BE49-F238E27FC236}">
                <a16:creationId xmlns:a16="http://schemas.microsoft.com/office/drawing/2014/main" id="{744C8202-6948-C359-B6AF-FE5C644FD0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Shape 16">
            <a:extLst>
              <a:ext uri="{FF2B5EF4-FFF2-40B4-BE49-F238E27FC236}">
                <a16:creationId xmlns:a16="http://schemas.microsoft.com/office/drawing/2014/main" id="{5DE5BD6D-FF57-8E89-3F6C-A81EEAB7E171}"/>
              </a:ext>
            </a:extLst>
          </p:cNvPr>
          <p:cNvSpPr/>
          <p:nvPr/>
        </p:nvSpPr>
        <p:spPr>
          <a:xfrm>
            <a:off x="967231" y="3039872"/>
            <a:ext cx="54864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EC1A06EB-D191-9368-6803-464907E4EBC5}"/>
              </a:ext>
            </a:extLst>
          </p:cNvPr>
          <p:cNvSpPr/>
          <p:nvPr/>
        </p:nvSpPr>
        <p:spPr>
          <a:xfrm>
            <a:off x="957296" y="4383362"/>
            <a:ext cx="54864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Overview — HT-HGNN v2.0 Key Metrics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22</a:t>
            </a:fld>
            <a:endParaRPr lang="en-IN" dirty="0"/>
          </a:p>
        </p:txBody>
      </p:sp>
      <p:sp>
        <p:nvSpPr>
          <p:cNvPr id="19" name="Rectangle 18"/>
          <p:cNvSpPr/>
          <p:nvPr/>
        </p:nvSpPr>
        <p:spPr>
          <a:xfrm>
            <a:off x="365760" y="1664208"/>
            <a:ext cx="2743200" cy="1234440"/>
          </a:xfrm>
          <a:prstGeom prst="rect">
            <a:avLst/>
          </a:prstGeom>
          <a:solidFill>
            <a:srgbClr val="1C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1728216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4472C4"/>
                </a:solidFill>
                <a:latin typeface="Cambria"/>
              </a:rPr>
              <a:t>94.7%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37744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Cambria"/>
              </a:rPr>
              <a:t>Accuracy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0128" y="1664208"/>
            <a:ext cx="2743200" cy="1234440"/>
          </a:xfrm>
          <a:prstGeom prst="rect">
            <a:avLst/>
          </a:prstGeom>
          <a:solidFill>
            <a:srgbClr val="1C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47288" y="1728216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70AD47"/>
                </a:solidFill>
                <a:latin typeface="Cambria"/>
              </a:rPr>
              <a:t>0.901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1568" y="237744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Cambria"/>
              </a:rPr>
              <a:t>F1 Score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54496" y="1664208"/>
            <a:ext cx="2743200" cy="1234440"/>
          </a:xfrm>
          <a:prstGeom prst="rect">
            <a:avLst/>
          </a:prstGeom>
          <a:solidFill>
            <a:srgbClr val="1C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91656" y="1728216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ED7D31"/>
                </a:solidFill>
                <a:latin typeface="Cambria"/>
              </a:rPr>
              <a:t>3.6×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237744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Cambria"/>
              </a:rPr>
              <a:t>Cascade
Improvement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98864" y="1664208"/>
            <a:ext cx="2743200" cy="1234440"/>
          </a:xfrm>
          <a:prstGeom prst="rect">
            <a:avLst/>
          </a:prstGeom>
          <a:solidFill>
            <a:srgbClr val="1C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36024" y="1728216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C000"/>
                </a:solidFill>
                <a:latin typeface="Cambria"/>
              </a:rPr>
              <a:t>218 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237744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Cambria"/>
              </a:rPr>
              <a:t>Parameters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" y="3063240"/>
            <a:ext cx="3566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C000"/>
                </a:solidFill>
                <a:latin typeface="Cambria"/>
              </a:rPr>
              <a:t>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3063240"/>
            <a:ext cx="1645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C000"/>
                </a:solidFill>
                <a:latin typeface="Cambria"/>
              </a:rPr>
              <a:t>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80" y="3063240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C000"/>
                </a:solidFill>
                <a:latin typeface="Cambria"/>
              </a:rPr>
              <a:t>Comparison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3063240"/>
            <a:ext cx="37490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C000"/>
                </a:solidFill>
                <a:latin typeface="Cambria"/>
              </a:rPr>
              <a:t>Δ Improvement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0312" y="3429000"/>
            <a:ext cx="3602736" cy="347472"/>
          </a:xfrm>
          <a:prstGeom prst="rect">
            <a:avLst/>
          </a:prstGeom>
          <a:solidFill>
            <a:srgbClr val="1C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28600" y="3447288"/>
            <a:ext cx="35661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mbria"/>
              </a:rPr>
              <a:t>Criticality Accuracy (4-class)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76472" y="3429000"/>
            <a:ext cx="1682496" cy="347472"/>
          </a:xfrm>
          <a:prstGeom prst="rect">
            <a:avLst/>
          </a:prstGeom>
          <a:solidFill>
            <a:srgbClr val="1C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94760" y="3447288"/>
            <a:ext cx="1645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C000"/>
                </a:solidFill>
                <a:latin typeface="Cambria"/>
              </a:rPr>
              <a:t>94.7%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22392" y="3429000"/>
            <a:ext cx="3054096" cy="347472"/>
          </a:xfrm>
          <a:prstGeom prst="rect">
            <a:avLst/>
          </a:prstGeom>
          <a:solidFill>
            <a:srgbClr val="1C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40680" y="344728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mbria"/>
              </a:rPr>
              <a:t>vs GCN 82.1%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39912" y="3429000"/>
            <a:ext cx="3785615" cy="347472"/>
          </a:xfrm>
          <a:prstGeom prst="rect">
            <a:avLst/>
          </a:prstGeom>
          <a:solidFill>
            <a:srgbClr val="1C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58200" y="3447288"/>
            <a:ext cx="374903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9BD5"/>
                </a:solidFill>
                <a:latin typeface="Cambria"/>
              </a:rPr>
              <a:t>+12.6%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0312" y="3794760"/>
            <a:ext cx="3602736" cy="347472"/>
          </a:xfrm>
          <a:prstGeom prst="rect">
            <a:avLst/>
          </a:prstGeom>
          <a:solidFill>
            <a:srgbClr val="1A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28600" y="3813048"/>
            <a:ext cx="35661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mbria"/>
              </a:rPr>
              <a:t>Macro F1 Score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76472" y="3794760"/>
            <a:ext cx="1682496" cy="347472"/>
          </a:xfrm>
          <a:prstGeom prst="rect">
            <a:avLst/>
          </a:prstGeom>
          <a:solidFill>
            <a:srgbClr val="1A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94760" y="3813048"/>
            <a:ext cx="1645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C000"/>
                </a:solidFill>
                <a:latin typeface="Cambria"/>
              </a:rPr>
              <a:t>0.901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22392" y="3794760"/>
            <a:ext cx="3054096" cy="347472"/>
          </a:xfrm>
          <a:prstGeom prst="rect">
            <a:avLst/>
          </a:prstGeom>
          <a:solidFill>
            <a:srgbClr val="1A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440680" y="381304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mbria"/>
              </a:rPr>
              <a:t>High-class F1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39912" y="3794760"/>
            <a:ext cx="3785615" cy="347472"/>
          </a:xfrm>
          <a:prstGeom prst="rect">
            <a:avLst/>
          </a:prstGeom>
          <a:solidFill>
            <a:srgbClr val="1A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58200" y="3813048"/>
            <a:ext cx="374903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9BD5"/>
                </a:solidFill>
                <a:latin typeface="Cambria"/>
              </a:rPr>
              <a:t>0.92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0312" y="4160520"/>
            <a:ext cx="3602736" cy="347472"/>
          </a:xfrm>
          <a:prstGeom prst="rect">
            <a:avLst/>
          </a:prstGeom>
          <a:solidFill>
            <a:srgbClr val="1C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28600" y="4178808"/>
            <a:ext cx="35661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mbria"/>
              </a:rPr>
              <a:t>Cascade Timing MAE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76472" y="4160520"/>
            <a:ext cx="1682496" cy="347472"/>
          </a:xfrm>
          <a:prstGeom prst="rect">
            <a:avLst/>
          </a:prstGeom>
          <a:solidFill>
            <a:srgbClr val="1C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794760" y="4178808"/>
            <a:ext cx="1645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C000"/>
                </a:solidFill>
                <a:latin typeface="Cambria"/>
              </a:rPr>
              <a:t>+/-2.1 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22392" y="4160520"/>
            <a:ext cx="3054096" cy="347472"/>
          </a:xfrm>
          <a:prstGeom prst="rect">
            <a:avLst/>
          </a:prstGeom>
          <a:solidFill>
            <a:srgbClr val="1C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440680" y="417880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mbria"/>
              </a:rPr>
              <a:t>vs GCN +/-7.5d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39912" y="4160520"/>
            <a:ext cx="3785615" cy="347472"/>
          </a:xfrm>
          <a:prstGeom prst="rect">
            <a:avLst/>
          </a:prstGeom>
          <a:solidFill>
            <a:srgbClr val="1C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58200" y="4178808"/>
            <a:ext cx="374903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9BD5"/>
                </a:solidFill>
                <a:latin typeface="Cambria"/>
              </a:rPr>
              <a:t>3.6× better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10312" y="4526280"/>
            <a:ext cx="3602736" cy="347472"/>
          </a:xfrm>
          <a:prstGeom prst="rect">
            <a:avLst/>
          </a:prstGeom>
          <a:solidFill>
            <a:srgbClr val="1A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28600" y="4544568"/>
            <a:ext cx="35661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mbria"/>
              </a:rPr>
              <a:t>Cascade Ordering (NDCG@7)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76472" y="4526280"/>
            <a:ext cx="1682496" cy="347472"/>
          </a:xfrm>
          <a:prstGeom prst="rect">
            <a:avLst/>
          </a:prstGeom>
          <a:solidFill>
            <a:srgbClr val="1A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794760" y="4544568"/>
            <a:ext cx="1645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C000"/>
                </a:solidFill>
                <a:latin typeface="Cambria"/>
              </a:rPr>
              <a:t>0.84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22392" y="4526280"/>
            <a:ext cx="3054096" cy="347472"/>
          </a:xfrm>
          <a:prstGeom prst="rect">
            <a:avLst/>
          </a:prstGeom>
          <a:solidFill>
            <a:srgbClr val="1A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440680" y="454456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mbria"/>
              </a:rPr>
              <a:t>GCN NDCG ~0.48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39912" y="4526280"/>
            <a:ext cx="3785615" cy="347472"/>
          </a:xfrm>
          <a:prstGeom prst="rect">
            <a:avLst/>
          </a:prstGeom>
          <a:solidFill>
            <a:srgbClr val="1A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458200" y="4544568"/>
            <a:ext cx="374903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9BD5"/>
                </a:solidFill>
                <a:latin typeface="Cambria"/>
              </a:rPr>
              <a:t>+75%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10312" y="4892040"/>
            <a:ext cx="3602736" cy="347472"/>
          </a:xfrm>
          <a:prstGeom prst="rect">
            <a:avLst/>
          </a:prstGeom>
          <a:solidFill>
            <a:srgbClr val="1C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28600" y="4910328"/>
            <a:ext cx="35661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mbria"/>
              </a:rPr>
              <a:t>Model Parameters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76472" y="4892040"/>
            <a:ext cx="1682496" cy="347472"/>
          </a:xfrm>
          <a:prstGeom prst="rect">
            <a:avLst/>
          </a:prstGeom>
          <a:solidFill>
            <a:srgbClr val="1C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794760" y="4910328"/>
            <a:ext cx="1645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C000"/>
                </a:solidFill>
                <a:latin typeface="Cambria"/>
              </a:rPr>
              <a:t>~218 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22392" y="4892040"/>
            <a:ext cx="3054096" cy="347472"/>
          </a:xfrm>
          <a:prstGeom prst="rect">
            <a:avLst/>
          </a:prstGeom>
          <a:solidFill>
            <a:srgbClr val="1C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440680" y="491032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mbria"/>
              </a:rPr>
              <a:t>vs Transformer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39912" y="4892040"/>
            <a:ext cx="3785615" cy="347472"/>
          </a:xfrm>
          <a:prstGeom prst="rect">
            <a:avLst/>
          </a:prstGeom>
          <a:solidFill>
            <a:srgbClr val="1C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458200" y="4910328"/>
            <a:ext cx="374903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9BD5"/>
                </a:solidFill>
                <a:latin typeface="Cambria"/>
              </a:rPr>
              <a:t>10× smaller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10312" y="5257800"/>
            <a:ext cx="3602736" cy="347472"/>
          </a:xfrm>
          <a:prstGeom prst="rect">
            <a:avLst/>
          </a:prstGeom>
          <a:solidFill>
            <a:srgbClr val="1A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28600" y="5276088"/>
            <a:ext cx="35661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mbria"/>
              </a:rPr>
              <a:t>Inference Time (CPU)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776472" y="5257800"/>
            <a:ext cx="1682496" cy="347472"/>
          </a:xfrm>
          <a:prstGeom prst="rect">
            <a:avLst/>
          </a:prstGeom>
          <a:solidFill>
            <a:srgbClr val="1A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794760" y="5276088"/>
            <a:ext cx="1645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C000"/>
                </a:solidFill>
                <a:latin typeface="Cambria"/>
              </a:rPr>
              <a:t>&lt;60 ms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22392" y="5257800"/>
            <a:ext cx="3054096" cy="347472"/>
          </a:xfrm>
          <a:prstGeom prst="rect">
            <a:avLst/>
          </a:prstGeom>
          <a:solidFill>
            <a:srgbClr val="1A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440680" y="527608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mbria"/>
              </a:rPr>
              <a:t>GPU: ~12 ms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439912" y="5257800"/>
            <a:ext cx="3785615" cy="347472"/>
          </a:xfrm>
          <a:prstGeom prst="rect">
            <a:avLst/>
          </a:prstGeom>
          <a:solidFill>
            <a:srgbClr val="1A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458200" y="5276088"/>
            <a:ext cx="374903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9BD5"/>
                </a:solidFill>
                <a:latin typeface="Cambria"/>
              </a:rPr>
              <a:t>Real-time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10312" y="5623560"/>
            <a:ext cx="3602736" cy="347472"/>
          </a:xfrm>
          <a:prstGeom prst="rect">
            <a:avLst/>
          </a:prstGeom>
          <a:solidFill>
            <a:srgbClr val="1C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28600" y="5641848"/>
            <a:ext cx="35661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mbria"/>
              </a:rPr>
              <a:t>Best Baseline R² (GBM)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776472" y="5623560"/>
            <a:ext cx="1682496" cy="347472"/>
          </a:xfrm>
          <a:prstGeom prst="rect">
            <a:avLst/>
          </a:prstGeom>
          <a:solidFill>
            <a:srgbClr val="1C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794760" y="5641848"/>
            <a:ext cx="1645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C000"/>
                </a:solidFill>
                <a:latin typeface="Cambria"/>
              </a:rPr>
              <a:t>0.897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22392" y="5623560"/>
            <a:ext cx="3054096" cy="347472"/>
          </a:xfrm>
          <a:prstGeom prst="rect">
            <a:avLst/>
          </a:prstGeom>
          <a:solidFill>
            <a:srgbClr val="1C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440680" y="564184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mbria"/>
              </a:rPr>
              <a:t>Test set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439912" y="5623560"/>
            <a:ext cx="3785615" cy="347472"/>
          </a:xfrm>
          <a:prstGeom prst="rect">
            <a:avLst/>
          </a:prstGeom>
          <a:solidFill>
            <a:srgbClr val="1C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458200" y="5641848"/>
            <a:ext cx="374903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9BD5"/>
                </a:solidFill>
                <a:latin typeface="Cambria"/>
              </a:rPr>
              <a:t>MAE 0.0042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10312" y="5989320"/>
            <a:ext cx="3602736" cy="347472"/>
          </a:xfrm>
          <a:prstGeom prst="rect">
            <a:avLst/>
          </a:prstGeom>
          <a:solidFill>
            <a:srgbClr val="1A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28600" y="6007608"/>
            <a:ext cx="35661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mbria"/>
              </a:rPr>
              <a:t>Top Feature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776472" y="5989320"/>
            <a:ext cx="1682496" cy="347472"/>
          </a:xfrm>
          <a:prstGeom prst="rect">
            <a:avLst/>
          </a:prstGeom>
          <a:solidFill>
            <a:srgbClr val="1A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794760" y="6007608"/>
            <a:ext cx="1645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C000"/>
                </a:solidFill>
                <a:latin typeface="Cambria"/>
              </a:rPr>
              <a:t>total_cost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422392" y="5989320"/>
            <a:ext cx="3054096" cy="347472"/>
          </a:xfrm>
          <a:prstGeom prst="rect">
            <a:avLst/>
          </a:prstGeom>
          <a:solidFill>
            <a:srgbClr val="1A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440680" y="600760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mbria"/>
              </a:rPr>
              <a:t>Importance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439912" y="5989320"/>
            <a:ext cx="3785615" cy="347472"/>
          </a:xfrm>
          <a:prstGeom prst="rect">
            <a:avLst/>
          </a:prstGeom>
          <a:solidFill>
            <a:srgbClr val="1A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458200" y="6007608"/>
            <a:ext cx="374903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9BD5"/>
                </a:solidFill>
                <a:latin typeface="Cambria"/>
              </a:rPr>
              <a:t>34.7%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1: Baseline ML Models — R² &amp; Error Comparison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23</a:t>
            </a:fld>
            <a:endParaRPr lang="en-IN" dirty="0"/>
          </a:p>
        </p:txBody>
      </p:sp>
      <p:pic>
        <p:nvPicPr>
          <p:cNvPr id="19" name="Picture 18" descr="c02_bas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" y="1600200"/>
            <a:ext cx="118872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2: Feature Importance — Driving Factors of Supply Chain Risk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24</a:t>
            </a:fld>
            <a:endParaRPr lang="en-IN" dirty="0"/>
          </a:p>
        </p:txBody>
      </p:sp>
      <p:pic>
        <p:nvPicPr>
          <p:cNvPr id="19" name="Picture 18" descr="c03_featu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" y="1600200"/>
            <a:ext cx="118872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3: Training Loss Convergence (50 Epochs, BOM Dataset)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25</a:t>
            </a:fld>
            <a:endParaRPr lang="en-IN" dirty="0"/>
          </a:p>
        </p:txBody>
      </p:sp>
      <p:pic>
        <p:nvPicPr>
          <p:cNvPr id="19" name="Picture 18" descr="c01_trai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" y="1600200"/>
            <a:ext cx="118872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4: Benchmark Comparison — 7 Models (Accuracy &amp; F1)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26</a:t>
            </a:fld>
            <a:endParaRPr lang="en-IN" dirty="0"/>
          </a:p>
        </p:txBody>
      </p:sp>
      <p:pic>
        <p:nvPicPr>
          <p:cNvPr id="19" name="Picture 18" descr="c04_bench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" y="1600200"/>
            <a:ext cx="118872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5: Ablation Study — Contribution of Each Component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27</a:t>
            </a:fld>
            <a:endParaRPr lang="en-IN" dirty="0"/>
          </a:p>
        </p:txBody>
      </p:sp>
      <p:pic>
        <p:nvPicPr>
          <p:cNvPr id="19" name="Picture 18" descr="c05_ab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" y="1600200"/>
            <a:ext cx="118872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6: HCI Risk Distribution Across Hyperedges (BOM)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28</a:t>
            </a:fld>
            <a:endParaRPr lang="en-IN" dirty="0"/>
          </a:p>
        </p:txBody>
      </p:sp>
      <p:pic>
        <p:nvPicPr>
          <p:cNvPr id="19" name="Picture 18" descr="c06_hc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" y="1600200"/>
            <a:ext cx="118872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7: HCI Component Analysis — Top 8 Highest-Risk Hyperedges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29</a:t>
            </a:fld>
            <a:endParaRPr lang="en-IN" dirty="0"/>
          </a:p>
        </p:txBody>
      </p:sp>
      <p:pic>
        <p:nvPicPr>
          <p:cNvPr id="19" name="Picture 18" descr="c07_hci_compon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" y="1600200"/>
            <a:ext cx="118872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8 (Case Study): IndiGo Aviation Disruption Cascade — Dec 2025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30</a:t>
            </a:fld>
            <a:endParaRPr lang="en-IN" dirty="0"/>
          </a:p>
        </p:txBody>
      </p:sp>
      <p:pic>
        <p:nvPicPr>
          <p:cNvPr id="19" name="Picture 18" descr="c08_indi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" y="1600200"/>
            <a:ext cx="118872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9: Cascade Timing Error — HT-HGNN v2.0 vs Standard GCN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31</a:t>
            </a:fld>
            <a:endParaRPr lang="en-IN" dirty="0"/>
          </a:p>
        </p:txBody>
      </p:sp>
      <p:pic>
        <p:nvPicPr>
          <p:cNvPr id="19" name="Picture 18" descr="c09_tim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" y="1600200"/>
            <a:ext cx="118872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10: Learning Rate Schedule &amp; Multi-Task Loss Composition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32</a:t>
            </a:fld>
            <a:endParaRPr lang="en-IN" dirty="0"/>
          </a:p>
        </p:txBody>
      </p:sp>
      <p:pic>
        <p:nvPicPr>
          <p:cNvPr id="19" name="Picture 18" descr="c10_l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1590741"/>
            <a:ext cx="12191998" cy="526725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Discussion — Strengths, Limitations &amp; Future Work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33</a:t>
            </a:fld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365760" y="1600200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Cambria"/>
              </a:rP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94767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DD7EE"/>
                </a:solidFill>
                <a:latin typeface="Cambria"/>
              </a:rPr>
              <a:t>• Spectral hypergraph convolution is the most critical component (−9.0% on ablation) — validates that multi-way hyperedge relationships capture supply chain dynamics that pairwise GNNs cannot.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276856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DD7EE"/>
                </a:solidFill>
                <a:latin typeface="Cambria"/>
              </a:rPr>
              <a:t>• Temporal Fusion Encoder (Bi-LSTM + Transformer + gating) reduces cascade timing error 3.6× over standard GCN (2.1 vs 7.5 days MAE).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606040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DD7EE"/>
                </a:solidFill>
                <a:latin typeface="Cambria"/>
              </a:rPr>
              <a:t>• HyperSHAP explainability + 5 heterogeneous relation types make the model interpretable and deployable in industrial settings.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935224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DD7EE"/>
                </a:solidFill>
                <a:latin typeface="Cambria"/>
              </a:rPr>
              <a:t>• 218K parameters — 10× smaller than comparable Transformer models; &lt; 60 ms CPU inference.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337560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Cambria"/>
              </a:rPr>
              <a:t>Limitations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68503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DD7EE"/>
                </a:solidFill>
                <a:latin typeface="Cambria"/>
              </a:rPr>
              <a:t>• Training targets use synthetic proxies (y_price ~ N(100,20); y_criticality from feature norms). Benchmark numbers should be reproduced on labelled disruption ground truth.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014216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DD7EE"/>
                </a:solidFill>
                <a:latin typeface="Cambria"/>
              </a:rPr>
              <a:t>• No train/validation/test split in HT-HGNN training loop — full dataset used; risk of overfitting cannot be assessed.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343400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DD7EE"/>
                </a:solidFill>
                <a:latin typeface="Cambria"/>
              </a:rPr>
              <a:t>• All BOM hyperedges have propagation_risk = 0 (no multi-echelon dependencies defined), leaving the cascade HCI component inactive.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672584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DD7EE"/>
                </a:solidFill>
                <a:latin typeface="Cambria"/>
              </a:rPr>
              <a:t>• DataCo dominates training at 92% — model may be biased toward e-commerce logistics patterns.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074920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9BD5"/>
                </a:solidFill>
                <a:latin typeface="Cambria"/>
              </a:rPr>
              <a:t>Future 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42239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DD7EE"/>
                </a:solidFill>
                <a:latin typeface="Cambria"/>
              </a:rPr>
              <a:t>• Generate ground-truth labels from actual disruption events in DataCo (late deliveries) and AI4I (machine failures).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751576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DD7EE"/>
                </a:solidFill>
                <a:latin typeface="Cambria"/>
              </a:rPr>
              <a:t>• Implement stratified K-fold cross-validation with holdout test set.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80760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DD7EE"/>
                </a:solidFill>
                <a:latin typeface="Cambria"/>
              </a:rPr>
              <a:t>• Define BOM tier dependencies to activate propagation risk component.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09944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DD7EE"/>
                </a:solidFill>
                <a:latin typeface="Cambria"/>
              </a:rPr>
              <a:t>• Apply GradNorm or task-uncertainty weighting to balance price vs criticality loss scales.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0F72B6-5F9D-B34C-802D-1B25567B9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15A5E14-74AF-E01F-9C12-71C9166DE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C066BF-4D36-1EA0-366A-0EA8F6C87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4C9188-B133-37E0-B556-35F7836F5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353E6A-7F71-84CA-7A66-37F323B70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C34C1D-D75D-CC47-9E2A-2228E721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EC5712-A06E-6A1B-48E0-AAF065BD0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Datasets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AF39E8A2-F716-349F-350A-BAF94BFE53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F4F41-A3DC-F23D-9CD1-D7A833C54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34</a:t>
            </a:fld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3FCAE13-BA81-73C0-D979-9C937CDA5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62" y="1836824"/>
            <a:ext cx="11813367" cy="4781784"/>
          </a:xfr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DataCo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 SMART SUPPLY CHAIN FOR BIG DATA ANALYSIS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hlinkClick r:id="rId6"/>
              </a:rPr>
              <a:t>Predicting Manufacturing Defects Dataset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hlinkClick r:id="rId7"/>
              </a:rPr>
              <a:t>Predictive Maintenance Dataset (AI4I 2020)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hlinkClick r:id="rId8"/>
              </a:rPr>
              <a:t>Smart Logistics Supply Chain Dataset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hlinkClick r:id="rId9"/>
              </a:rPr>
              <a:t>Logistics and supply chain dataset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u="sng" dirty="0">
                <a:latin typeface="Cambria" panose="02040503050406030204" pitchFamily="18" charset="0"/>
                <a:ea typeface="Cambria" panose="02040503050406030204" pitchFamily="18" charset="0"/>
                <a:hlinkClick r:id="rId10"/>
              </a:rPr>
              <a:t>DGCA OTP Reports</a:t>
            </a:r>
            <a:endParaRPr lang="en-IN" sz="2400" u="sng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hlinkClick r:id="rId11"/>
              </a:rPr>
              <a:t>FAA Airworthiness Directives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u="sng" dirty="0">
                <a:latin typeface="Cambria" panose="02040503050406030204" pitchFamily="18" charset="0"/>
                <a:ea typeface="Cambria" panose="02040503050406030204" pitchFamily="18" charset="0"/>
                <a:hlinkClick r:id="rId10"/>
              </a:rPr>
              <a:t>DGCA Air Transport Statistics</a:t>
            </a:r>
            <a:endParaRPr lang="en-IN" sz="2400" u="sng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u="sng" dirty="0">
                <a:latin typeface="Cambria" panose="02040503050406030204" pitchFamily="18" charset="0"/>
                <a:ea typeface="Cambria" panose="02040503050406030204" pitchFamily="18" charset="0"/>
                <a:hlinkClick r:id="rId12"/>
              </a:rPr>
              <a:t>FlightRadar24 (IndiGo)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u="sng" dirty="0">
                <a:latin typeface="Cambria" panose="02040503050406030204" pitchFamily="18" charset="0"/>
                <a:ea typeface="Cambria" panose="02040503050406030204" pitchFamily="18" charset="0"/>
                <a:hlinkClick r:id="rId13"/>
              </a:rPr>
              <a:t>AAI Traffic News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180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7176"/>
            <a:ext cx="9895951" cy="1033669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Cambria" panose="02040503050406030204" pitchFamily="18" charset="0"/>
              </a:rPr>
              <a:t>Milestones</a:t>
            </a:r>
            <a:r>
              <a:rPr lang="en-IN" sz="4000" dirty="0">
                <a:solidFill>
                  <a:schemeClr val="bg1"/>
                </a:solidFill>
                <a:latin typeface="Cambria" panose="02040503050406030204" pitchFamily="18" charset="0"/>
              </a:rPr>
              <a:t> </a:t>
            </a:r>
            <a:endParaRPr lang="en-IN" sz="4000" b="1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40C23DFE-E8D6-EB69-3191-B2F7ACC906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0AB61-CEDE-F0C4-0F63-779750F7B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35</a:t>
            </a:fld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5DF8A6F-6A86-CB0C-900F-A0A6894EC0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018309" y="1594309"/>
            <a:ext cx="9493827" cy="476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981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20DD96-D045-8830-C496-2E45DD0DC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1F1AA5D-399D-9B0F-7BFB-850B4A1AA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7B3C86-9000-1A34-DF72-71D4D0006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946294-2634-21ED-6EB6-C9B77FBA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32E089-BEE0-39C5-283E-98BEF3D2E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0ABAAA-51A0-124B-098C-822ADC814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FFC82E-A4D3-29E6-DB37-264B13B26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9063613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Sustainable Development Goal (SDG) Focus</a:t>
            </a:r>
            <a:endParaRPr lang="en-US" altLang="en-US" sz="3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ABAE87D7-D0BE-B876-4001-F833156134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0069C-6A37-E041-6BD4-80A47DA6B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36</a:t>
            </a:fld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8E3C448-68E1-DE28-7039-E36EA66CB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314" y="2161286"/>
            <a:ext cx="11813367" cy="4781784"/>
          </a:xfr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SDG 8 – Decent Work and Economic Growth: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Strengthens industrial supply-chain resilience to enhance economic stability.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SDG 12 – Responsible Consumption and Production: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Improves production efficiency and reduces waste through resilient supply-chain planning.</a:t>
            </a: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4570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Cambria" panose="02040503050406030204" pitchFamily="18" charset="0"/>
              </a:rPr>
              <a:t>References</a:t>
            </a:r>
            <a:endParaRPr lang="en-IN" sz="4000" b="1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675" y="1708229"/>
            <a:ext cx="11732646" cy="5038973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Gholami-Zanjani et al. (2021)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A resilient-green model for multi-echelon meat supply chain planning.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2.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Cheng et al. (2021)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Impacts of store-brand introduction on a multiple-echelon supply chain.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3.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Biswas et al. (2023)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Multi-echelon supply chain coordination: Contract sequence and cut-off policies.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4.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Wu et al. (2023)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Distributional reinforcement learning for inventory management in multi-echelon supply chains.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5.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Zhao et al. (2024)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POI-based Double-deck Graph Convolution Network for Traffic Forecasting.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6.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Lugo-Martinez et al. (2021)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Classification in biological networks with </a:t>
            </a:r>
            <a:r>
              <a:rPr lang="en-IN" sz="1300" dirty="0" err="1">
                <a:latin typeface="Cambria" panose="02040503050406030204" pitchFamily="18" charset="0"/>
                <a:ea typeface="Cambria" panose="02040503050406030204" pitchFamily="18" charset="0"/>
              </a:rPr>
              <a:t>hypergraphlet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 kernels.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7.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Kayhan et al. (2024)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A fuzzy optimization-oriented decision support model to examine key industry 4.0 strategies for building resilience...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8. </a:t>
            </a:r>
            <a:r>
              <a:rPr lang="en-IN" sz="1300" b="1" dirty="0" err="1">
                <a:latin typeface="Cambria" panose="02040503050406030204" pitchFamily="18" charset="0"/>
                <a:ea typeface="Cambria" panose="02040503050406030204" pitchFamily="18" charset="0"/>
              </a:rPr>
              <a:t>Manupati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 et al. (2020)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A blockchain-based approach for a multi-echelon sustainable supply chain.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9. </a:t>
            </a:r>
            <a:r>
              <a:rPr lang="en-IN" sz="1300" b="1" dirty="0" err="1">
                <a:latin typeface="Cambria" panose="02040503050406030204" pitchFamily="18" charset="0"/>
                <a:ea typeface="Cambria" panose="02040503050406030204" pitchFamily="18" charset="0"/>
              </a:rPr>
              <a:t>Lavassani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 et al. (2023)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Ten-tier and multi-scale supply chain network analysis of medical equipment.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10. </a:t>
            </a:r>
            <a:r>
              <a:rPr lang="en-IN" sz="1300" b="1" dirty="0" err="1">
                <a:latin typeface="Cambria" panose="02040503050406030204" pitchFamily="18" charset="0"/>
                <a:ea typeface="Cambria" panose="02040503050406030204" pitchFamily="18" charset="0"/>
              </a:rPr>
              <a:t>Dolgui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 et al. (2018)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Ripple effect in the supply chain: an analysis and recent literature.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11.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Mashud et al. (2025)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Disruption-resilient multi-echelon supply chains: a model integrating carbon emissions and social welfare investments.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12.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Ye et al. (2024)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Hyperedge Interaction-aware Hypergraph Neural Network.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13.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Smeding and </a:t>
            </a:r>
            <a:r>
              <a:rPr lang="en-IN" sz="1300" b="1" dirty="0" err="1">
                <a:latin typeface="Cambria" panose="02040503050406030204" pitchFamily="18" charset="0"/>
                <a:ea typeface="Cambria" panose="02040503050406030204" pitchFamily="18" charset="0"/>
              </a:rPr>
              <a:t>Vákár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 (2023)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Efficient CHAD.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14.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Feng et al. (2019)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Hypergraph Neural Networks.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15.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Gehrlein and Ipek (2021)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Long-lived bi</a:t>
            </a:r>
            <a:r>
              <a:rPr lang="el-GR" sz="1300" dirty="0">
                <a:latin typeface="Cambria" panose="02040503050406030204" pitchFamily="18" charset="0"/>
                <a:ea typeface="Cambria" panose="02040503050406030204" pitchFamily="18" charset="0"/>
              </a:rPr>
              <a:t>ν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o at the LHC.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16.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Joshi (2025)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On Mochizuki’s idea of Anabelomorphy and its applications.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17.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Lee and Bhattacharya (2019)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Hypergraph-Based 3D Object Recognition.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18.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Lu et al. (2022)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Bridging the gap — ZTF rotation periods.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19.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Abbas et al. (2025)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Graph neural network-based drug-drug interaction prediction.</a:t>
            </a:r>
          </a:p>
          <a:p>
            <a:pPr marL="0" indent="0">
              <a:buNone/>
            </a:pPr>
            <a:endParaRPr lang="en-IN" sz="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40C23DFE-E8D6-EB69-3191-B2F7ACC906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1440EF-D45E-61D4-3E43-904FE299A30D}"/>
              </a:ext>
            </a:extLst>
          </p:cNvPr>
          <p:cNvSpPr txBox="1">
            <a:spLocks/>
          </p:cNvSpPr>
          <p:nvPr/>
        </p:nvSpPr>
        <p:spPr>
          <a:xfrm>
            <a:off x="2373991" y="2461421"/>
            <a:ext cx="8195620" cy="552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ambria" panose="02040503050406030204" pitchFamily="18" charset="0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8D160C-539A-DEAA-7E57-E21923DCE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290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DFFE50-9494-0166-F3A8-AD0293A3D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2EC5F32-D056-644D-3AA6-0AC2A05E7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2FEA3E-8690-D8F8-7CFF-AC07070BD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8862FD-4605-B71E-958C-9AD092C62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FDECAC-5BD9-5D0B-F820-29ABD342A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E338B8-5396-D662-B5FB-A8879FED5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A3046D-1C7E-0A14-9C24-C998DB38B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Cambria" panose="02040503050406030204" pitchFamily="18" charset="0"/>
              </a:rPr>
              <a:t>References</a:t>
            </a:r>
            <a:endParaRPr lang="en-IN" sz="4000" b="1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A96AA-40A9-5B16-3E58-B20206DB7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675" y="1708229"/>
            <a:ext cx="11732646" cy="503897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20.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Kosasih et al. (2024)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Towards knowledge graph reasoning for supply chain risk management using graph neural networks.</a:t>
            </a:r>
          </a:p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21.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Pan et al. (2024)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Topic optimization–incorporated collaborative recommendation for social tagging.</a:t>
            </a:r>
          </a:p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22.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Abbasi and Varga (2022)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Steering supply chains from a complex systems perspective.</a:t>
            </a:r>
          </a:p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23.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Wang-Mlynek and </a:t>
            </a:r>
            <a:r>
              <a:rPr lang="en-IN" sz="1100" b="1" dirty="0" err="1">
                <a:latin typeface="Cambria" panose="02040503050406030204" pitchFamily="18" charset="0"/>
                <a:ea typeface="Cambria" panose="02040503050406030204" pitchFamily="18" charset="0"/>
              </a:rPr>
              <a:t>Förstl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 (2020)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Barriers to multi-tier supply chain risk management.</a:t>
            </a:r>
          </a:p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24.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Liu et al. (2024)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Multi-Agent Deep Reinforcement Learning for Multi-Echelon Inventory Management.</a:t>
            </a:r>
          </a:p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25.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Balogh et al. (2025)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Community detection in hypergraphs through hyperedge percolation.</a:t>
            </a:r>
          </a:p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26.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Q.H. et al. (2025)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Dual Chain Dynamic Hypergraph Convolution Network.</a:t>
            </a:r>
          </a:p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27.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Liu et al. (2022)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Cost Reduction of Inventory-Production-System in Multi-echelon Supply Chain Using Game Theory and Fuzzy Demand Forecasting.</a:t>
            </a:r>
          </a:p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28.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Akcay (2025)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V-W-km estimation in rail networks.</a:t>
            </a:r>
          </a:p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29.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Zhang et al. (2021)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Research on Multi-Echelon Inventory Optimization for Fresh Products in Supply Chains.</a:t>
            </a:r>
          </a:p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30.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Aksoy et al. (2020)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Hypernetwork science via high-order hypergraph walks.</a:t>
            </a:r>
          </a:p>
          <a:p>
            <a:pPr marL="0" indent="0">
              <a:buNone/>
            </a:pPr>
            <a:br>
              <a:rPr lang="en-IN" dirty="0"/>
            </a:br>
            <a:br>
              <a:rPr lang="en-IN" dirty="0"/>
            </a:br>
            <a:r>
              <a:rPr lang="en-IN" dirty="0"/>
              <a:t> </a:t>
            </a: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EF3FBE2E-2FB4-6CDB-8DEF-DC15043329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3929AE2-F61E-D6CF-CF94-32C73068C51F}"/>
              </a:ext>
            </a:extLst>
          </p:cNvPr>
          <p:cNvSpPr txBox="1">
            <a:spLocks/>
          </p:cNvSpPr>
          <p:nvPr/>
        </p:nvSpPr>
        <p:spPr>
          <a:xfrm>
            <a:off x="2373991" y="2461421"/>
            <a:ext cx="8195620" cy="552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ambria" panose="02040503050406030204" pitchFamily="18" charset="0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CFAD7E-1FA5-74F7-5F27-5306368B1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136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2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875" y="2678202"/>
            <a:ext cx="4931805" cy="1010088"/>
          </a:xfrm>
        </p:spPr>
        <p:txBody>
          <a:bodyPr anchor="b">
            <a:normAutofit/>
          </a:bodyPr>
          <a:lstStyle/>
          <a:p>
            <a:r>
              <a:rPr lang="en-IN" sz="3200" dirty="0">
                <a:solidFill>
                  <a:srgbClr val="FFFFFF"/>
                </a:solidFill>
                <a:latin typeface="Cambria" panose="02040503050406030204" pitchFamily="18" charset="0"/>
              </a:rPr>
              <a:t>Expected Outcomes from the Capstone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04131" y="1535745"/>
            <a:ext cx="5661474" cy="292371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IN" sz="2000" dirty="0">
              <a:latin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</a:rPr>
              <a:t>Journal Publication</a:t>
            </a:r>
          </a:p>
          <a:p>
            <a:pPr marL="0" indent="0">
              <a:buNone/>
            </a:pPr>
            <a:endParaRPr lang="en-IN" sz="2000" dirty="0">
              <a:latin typeface="Cambria" panose="02040503050406030204" pitchFamily="18" charset="0"/>
            </a:endParaRPr>
          </a:p>
          <a:p>
            <a:endParaRPr lang="en-IN" sz="2000" dirty="0">
              <a:latin typeface="Cambria" panose="02040503050406030204" pitchFamily="18" charset="0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4C2F59B-6102-66D3-5913-979B44F309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1337" y="88655"/>
            <a:ext cx="2461038" cy="66815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179C29-8B88-3F2C-F6F5-999643738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39</a:t>
            </a:fld>
            <a:endParaRPr lang="en-IN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0D34819D-64EC-2CC8-9589-1C21C83603D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20090501"/>
                  </p:ext>
                </p:extLst>
              </p:nvPr>
            </p:nvGraphicFramePr>
            <p:xfrm>
              <a:off x="-4337538" y="4855823"/>
              <a:ext cx="3048000" cy="1714500"/>
            </p:xfrm>
            <a:graphic>
              <a:graphicData uri="http://schemas.microsoft.com/office/powerpoint/2016/slidezoom">
                <pslz:sldZm>
                  <pslz:sldZmObj sldId="380" cId="3106824067">
                    <pslz:zmPr id="{E346CBCA-9F7B-4916-A427-C746B356BFED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0D34819D-64EC-2CC8-9589-1C21C83603D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4337538" y="4855823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6824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99745" y="308692"/>
            <a:ext cx="3964760" cy="746385"/>
          </a:xfrm>
        </p:spPr>
        <p:txBody>
          <a:bodyPr anchor="t">
            <a:normAutofit/>
          </a:bodyPr>
          <a:lstStyle/>
          <a:p>
            <a:r>
              <a:rPr lang="en-IN" sz="3200" dirty="0">
                <a:latin typeface="Cambria" panose="02040503050406030204" pitchFamily="18" charset="0"/>
              </a:rPr>
              <a:t>Acknowledgements</a:t>
            </a:r>
          </a:p>
        </p:txBody>
      </p:sp>
      <p:pic>
        <p:nvPicPr>
          <p:cNvPr id="8" name="Picture 7" descr="Rolls of blueprints">
            <a:extLst>
              <a:ext uri="{FF2B5EF4-FFF2-40B4-BE49-F238E27FC236}">
                <a16:creationId xmlns:a16="http://schemas.microsoft.com/office/drawing/2014/main" id="{8444CAF3-4B05-970E-4657-5D5D2EB1FE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863" r="-1" b="-1"/>
          <a:stretch/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D9F100E-44ED-C884-7BAE-0C7E67B36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27355"/>
            <a:ext cx="5257800" cy="4849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We would like to sincerely express our gratitude to:</a:t>
            </a:r>
          </a:p>
          <a:p>
            <a:r>
              <a:rPr lang="en-US" sz="2400" dirty="0"/>
              <a:t>Prof. Aravind Raj S, for his valuable guidance, continuous support, and encouragement throughout this project.</a:t>
            </a:r>
          </a:p>
          <a:p>
            <a:pPr marL="0" indent="0">
              <a:buNone/>
            </a:pPr>
            <a:r>
              <a:rPr lang="en-US" sz="2400" dirty="0"/>
              <a:t>We are deeply thankful for his time, effort, and insights that have been instrumental in the successful progress of our project.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CA12F-E5B5-334A-935D-5ADD03B8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40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2487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3823</TotalTime>
  <Words>4462</Words>
  <Application>Microsoft Office PowerPoint</Application>
  <PresentationFormat>Widescreen</PresentationFormat>
  <Paragraphs>679</Paragraphs>
  <Slides>40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Calibri</vt:lpstr>
      <vt:lpstr>Calibri Light</vt:lpstr>
      <vt:lpstr>Cambria</vt:lpstr>
      <vt:lpstr>Consolas</vt:lpstr>
      <vt:lpstr>Wingdings 2</vt:lpstr>
      <vt:lpstr>Office Theme</vt:lpstr>
      <vt:lpstr>PowerPoint Presentation</vt:lpstr>
      <vt:lpstr>CONTENTS</vt:lpstr>
      <vt:lpstr>Introduction </vt:lpstr>
      <vt:lpstr>Literature Review(Supply Chain Concepts)</vt:lpstr>
      <vt:lpstr>Literature Review</vt:lpstr>
      <vt:lpstr>Literature Review (Hypergraph Concepts)</vt:lpstr>
      <vt:lpstr>Literature Review</vt:lpstr>
      <vt:lpstr>Knowledge gained from the literature</vt:lpstr>
      <vt:lpstr>PowerPoint Presentation</vt:lpstr>
      <vt:lpstr>Objectives</vt:lpstr>
      <vt:lpstr>PowerPoint Presentation</vt:lpstr>
      <vt:lpstr>PowerPoint Presentation</vt:lpstr>
      <vt:lpstr>Hypergraph Foundations</vt:lpstr>
      <vt:lpstr>PowerPoint Presentation</vt:lpstr>
      <vt:lpstr>Hypergraph Convolution</vt:lpstr>
      <vt:lpstr>PowerPoint Presentation</vt:lpstr>
      <vt:lpstr>Methodology</vt:lpstr>
      <vt:lpstr>Heterogeneous Relationships</vt:lpstr>
      <vt:lpstr>Multi-Task Learning &amp; Output Heads</vt:lpstr>
      <vt:lpstr>Optimizer</vt:lpstr>
      <vt:lpstr>PowerPoint Presentation</vt:lpstr>
      <vt:lpstr>Results Overview — HT-HGNN v2.0 Key Metrics</vt:lpstr>
      <vt:lpstr>Results 1: Baseline ML Models — R² &amp; Error Comparison</vt:lpstr>
      <vt:lpstr>Results 2: Feature Importance — Driving Factors of Supply Chain Risk</vt:lpstr>
      <vt:lpstr>Results 3: Training Loss Convergence (50 Epochs, BOM Dataset)</vt:lpstr>
      <vt:lpstr>Results 4: Benchmark Comparison — 7 Models (Accuracy &amp; F1)</vt:lpstr>
      <vt:lpstr>Results 5: Ablation Study — Contribution of Each Component</vt:lpstr>
      <vt:lpstr>Results 6: HCI Risk Distribution Across Hyperedges (BOM)</vt:lpstr>
      <vt:lpstr>Results 7: HCI Component Analysis — Top 8 Highest-Risk Hyperedges</vt:lpstr>
      <vt:lpstr>Results 8 (Case Study): IndiGo Aviation Disruption Cascade — Dec 2025</vt:lpstr>
      <vt:lpstr>Results 9: Cascade Timing Error — HT-HGNN v2.0 vs Standard GCN</vt:lpstr>
      <vt:lpstr>Results 10: Learning Rate Schedule &amp; Multi-Task Loss Composition</vt:lpstr>
      <vt:lpstr>Discussion — Strengths, Limitations &amp; Future Work</vt:lpstr>
      <vt:lpstr>Datasets</vt:lpstr>
      <vt:lpstr>Milestones </vt:lpstr>
      <vt:lpstr>Sustainable Development Goal (SDG) Focus</vt:lpstr>
      <vt:lpstr>References</vt:lpstr>
      <vt:lpstr>References</vt:lpstr>
      <vt:lpstr>Expected Outcomes from the Capstone Project</vt:lpstr>
      <vt:lpstr>Acknowledgements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Devendranath Ramkumar</dc:creator>
  <cp:lastModifiedBy>ANSHU KUMAR</cp:lastModifiedBy>
  <cp:revision>52</cp:revision>
  <dcterms:created xsi:type="dcterms:W3CDTF">2023-09-11T05:27:11Z</dcterms:created>
  <dcterms:modified xsi:type="dcterms:W3CDTF">2026-03-17T11:05:07Z</dcterms:modified>
</cp:coreProperties>
</file>