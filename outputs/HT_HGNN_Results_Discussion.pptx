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Supply Chain Risk Analysis using HT-HGNN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Calibri"/>
              </a:defRPr>
            </a:pPr>
            <a:r>
              <a:t>Heterogeneous Temporal Hypergraph Neural Networks</a:t>
            </a:r>
            <a:br/>
            <a:r>
              <a:t>for Supply Chain Disruption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Calibri"/>
              </a:defRPr>
            </a:pPr>
            <a:r>
              <a:rPr dirty="0"/>
              <a:t>Results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Team: Anshu &amp; Param  |  Dept. of Mechanical Engineering  |  Final Year Project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  <a:latin typeface="Calibri"/>
              </a:defRPr>
            </a:pPr>
            <a:r>
              <a:rPr dirty="0"/>
              <a:t>94.7%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Criticality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4-class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09728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  <a:latin typeface="Calibri"/>
              </a:defRPr>
            </a:pPr>
            <a:r>
              <a:t>0.901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Macro F1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High-risk class F1 = 0.92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6B6D4"/>
                </a:solidFill>
                <a:latin typeface="Calibri"/>
              </a:defRPr>
            </a:pPr>
            <a:r>
              <a:t>&lt; 60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Inference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CPU batch; GPU ~12ms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280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Calibri"/>
              </a:defRPr>
            </a:pPr>
            <a:r>
              <a:t>218K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60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10x smaller than Transformers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657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3.6x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Better Cascade Timing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vs GCN (+/-2.1 vs +/-7.5 days)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47472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3657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6 Datasets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Multi-Domain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196K records, 9.74M data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47472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657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Calibri"/>
              </a:defRPr>
            </a:pPr>
            <a:r>
              <a:t>NDCG 0.84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Cascade Ordering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6/7 stages correct, tau=0.81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474720"/>
            <a:ext cx="25603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0" y="36576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5 Relations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389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Heterogeneous Attention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supplier, mfg, transport, QC, co-disrupted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Experimental Setup —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97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097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Hyperedges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097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Time Span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097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Train 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36192"/>
            <a:ext cx="11155680" cy="38404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DataCo Supply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180,519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1,247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2015-2018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92.0%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Automotive BOM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12,305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486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2020-2023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2.8%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59152"/>
            <a:ext cx="11155680" cy="38404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IndiGo Aviation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Aviation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84 nodes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Jan-Dec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0.1%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Global 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Maritime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847 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312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2020-2024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82112"/>
            <a:ext cx="11155680" cy="38404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AI4I Maintenance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Predictive Maint.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874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Synthetic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200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5.1%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M5 Walmart Retail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Retail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30,490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528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2011-2016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611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t>Total: 196,199 records  |  91 columns  |  9.74M data points  |  4 domains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696" y="5321808"/>
            <a:ext cx="4572000" cy="4690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Architecture — HT-HGNN v2.0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1. Spectral Hypergraph Conv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Zhou et al. formulation, 2-layer, 128-dim, residual + LayerNorm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09728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2. Temporal Fusion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Bi-LSTM (2 layers) + Transformer (4 heads, 2 layers) + learned gating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109728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3. Heterogeneous Relation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5 relation types with per-type Q/K/V attention, 8 heads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09728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4. Cascade Risk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45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12-step probabilistic propagation, damped update, learned alpha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54880"/>
            <a:ext cx="109728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5. Multi-Task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Price (MSE) + Disruption (BCE) + Criticality (CE) + Cascade (KL)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Loss: 1.0x price + 0.8x change + 1.2x criticality + 0.6x cascade  |  Optimizer: Adam (lr=0.001)  |  Scheduler: CosineAnnealingLR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Convergence — Loss Curves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Total loss reduced 10.8% (10,424 -&gt; 9,301).  Criticality head improved 84.9% (0.716 -&gt; 0.108).  Change head improved 77.1%.  Price loss dominates &gt;99.9% of total loss magnitude.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Baseline Models — HCI Regression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Best baseline: Gradient Boosting (R²=0.897, MAE=0.0042).  XGBoost overfits (train R²=0.9998 vs test R²=0.829).  Random Forest most stable (train-test gap = 0.005).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 — Consensus Across Baselines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Top 4 features (total_cost, bom_weight, tolerance, supplier_count) account for 93.3% of total importance.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Benchmark — Model Accuracy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515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HT-HGNN v2.0 achieves 94.7% accuracy (+26.5% over LR, +12.6% over GCN, +3.5% over v1.0).  Progression: attention +2.2%, temporal +3.3%, hypergraph +3.6%.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Ablation Study — Component Contributions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Spectral Conv is the most critical component (−9.0%).  Every v2.0 component individually beats GCN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HCI Risk Distribution — BOM Dataset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Mean HCI: 0.426 (std: 0.070)  |  Range: [0.275, 0.564]  |  86% Medium-risk indicates systemic vulnerability under cascade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HCI Formula — Component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rPr dirty="0"/>
              <a:t>HCI = 0.7 x (0.5 x </a:t>
            </a:r>
            <a:r>
              <a:rPr dirty="0" err="1"/>
              <a:t>JointFailure</a:t>
            </a:r>
            <a:r>
              <a:rPr dirty="0"/>
              <a:t> + 0.3 x </a:t>
            </a:r>
            <a:r>
              <a:rPr dirty="0" err="1"/>
              <a:t>EngineeringImpact</a:t>
            </a:r>
            <a:r>
              <a:rPr dirty="0"/>
              <a:t> + 0.2 x </a:t>
            </a:r>
            <a:r>
              <a:rPr dirty="0" err="1"/>
              <a:t>PropagationRisk</a:t>
            </a:r>
            <a:r>
              <a:rPr dirty="0"/>
              <a:t>)  +  0.3 x </a:t>
            </a:r>
            <a:r>
              <a:rPr dirty="0" err="1"/>
              <a:t>ConcentrationRisk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601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HT-HGNN Analysis — Sensitivity &amp; Cascade Scores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Entropy = 2.292 (moderate distribution of attention).  Mean cascade = 0.361 (~36% nodes affected).  Shared high-risk nodes: [424, 732, 791] — potential single points of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Case Study — IndiGo Aviation Disruption Dec 2025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Peak: Dec 25 — 340 flights cancelled, 61.2K passengers.  Total impact: 4,500+ cancellations, 9.82 lakh passengers.  OTP dropped 84% -&gt; 62.7%.  21% fleet grounded (75 A320neo aircraft).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Cascade Timing — HT-HGNN vs GCN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Average MAE: HT-HGNN = +/-2.1 days vs GCN = +/-7.5 days (3.6x better).  Largest gap at FDTL+Pilot stage: 1.8 vs 12.0 days — multi-cause convergence captured by hyperedges.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Cascade Ordering &amp; Ranking Metrics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515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manufactured_by receives highest attention (30%), followed by supplier_of (25%) and co_disrupted_with (20%).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Training Details — Learning Rate &amp; Loss Components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Price loss dominates &gt;99.9% of total magnitude.  LR anneals from 0.001 to 0.000516 over 50 epochs.  Gradient clipping (</a:t>
            </a:r>
            <a:r>
              <a:rPr dirty="0" err="1"/>
              <a:t>max_norm</a:t>
            </a:r>
            <a:r>
              <a:rPr dirty="0"/>
              <a:t>=1.0) prevents instability from the large price loss scale.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Calibri"/>
              </a:defRPr>
            </a:pPr>
            <a:r>
              <a:rPr dirty="0"/>
              <a:t>Discussion — Strengths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rPr dirty="0"/>
              <a:t>Hypergraph Superiority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9.0% accuracy drop on ablation + 12.6% gap over GCN proves multi-way hyperedge relationships capture supply chain dynamics that pairwise models cannot.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10972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Temporal Fusion Effectiveness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Bi-LSTM + Transformer dual-stream reduces cascade timing error by 3.6x (2.1 vs 7.5 days MAE). Learned gating adaptively selects short-range vs long-range patterns.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Feature Importance 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All 3 baselines independently identified same top-4 features (total_cost, bom_weight, tolerance, supplier_count) — 93.3% of total importance.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0972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rPr dirty="0"/>
              <a:t>Real-World Case Study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rPr dirty="0"/>
              <a:t>IndiGo aviation disruption: 84% NDCG on cascade ordering, 6/7 stages predicted correctly, multi-cause convergence captured at </a:t>
            </a:r>
            <a:r>
              <a:rPr dirty="0" err="1"/>
              <a:t>FDTL+Pilot</a:t>
            </a:r>
            <a:r>
              <a:rPr dirty="0"/>
              <a:t> stage.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12079"/>
            <a:ext cx="109728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5779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Efficient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218K parameters — 10x smaller than comparable Transformer models. &lt;60ms CPU inference enables real-time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32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Synthetic Training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rPr dirty="0" err="1"/>
              <a:t>y_price</a:t>
            </a:r>
            <a:r>
              <a:rPr dirty="0"/>
              <a:t> from N(100,20), </a:t>
            </a:r>
            <a:r>
              <a:rPr dirty="0" err="1"/>
              <a:t>y_criticality</a:t>
            </a:r>
            <a:r>
              <a:rPr dirty="0"/>
              <a:t> from feature norms. Benchmark numbers (94.7%) appear from separate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32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Generate ground-truth labels from actual disruption events in datasets.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0972800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No Train/Val/Test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HT-HGNN trains on full dataset without holdout. Baselines properly use 60/20/20 split.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84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Implement stratified K-fold cross-validation.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0972800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Price Loss Dominance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rPr dirty="0"/>
              <a:t>Price MSE (~9,300) overwhelms criticality loss (~0.11) by 5 orders of magnitude.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35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37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Apply task-uncertainty weighting or GradNorm for automatic loss balancing.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69079"/>
            <a:ext cx="10972800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8736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Zero Propagation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All BOM hyperedges have propagation_risk = 0.0 (no echelon dependencies defined).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8736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891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Define multi-echelon BOM dependencies to activate cascade propagation component.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10972800" cy="9326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3892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Dataset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DataCo dominates at 92% of training data, potentially biasing toward e-commerce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13892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Recommendation: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4406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Apply dataset-level sampling or curriculum learning across domains.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"/>
              </a:defRPr>
            </a:pPr>
            <a:r>
              <a:t>Supply Chain Risk Analysis using HT-HGNN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Anshu &amp; Param  |  Dept. of Mechanical Engineering  |  2025-26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94.7% Accuracy   |   0.901 F1   |   3.6x Better Cascade Timing   |   218K Parameters   |   &lt;60ms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1115</Words>
  <Application>Microsoft Office PowerPoint</Application>
  <PresentationFormat>Widescreen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ANSHU KUMAR</cp:lastModifiedBy>
  <cp:revision>3</cp:revision>
  <dcterms:created xsi:type="dcterms:W3CDTF">2013-01-27T09:14:16Z</dcterms:created>
  <dcterms:modified xsi:type="dcterms:W3CDTF">2026-03-17T11:05:39Z</dcterms:modified>
  <cp:category/>
</cp:coreProperties>
</file>